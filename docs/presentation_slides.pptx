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decision rather than model complexity. Explain a scarce unit can be valuable at one store and excess at another. MU means synthetic monetary units. This is an interview research prototype, not an operational replenishment system.</a:t>
            </a:r>
          </a:p>
          <a:p>
            <a:r>
              <a:t>Target duration: 65 seconds.</a:t>
            </a:r>
          </a:p>
          <a:p>
            <a:r>
              <a:t>Sources: artifacts/demo_v2/summary_metrics.parquet, artifacts/m5_v2/summary_metrics.parquet, artifacts/m5_intermittent_v2/summary_metrics.parquet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Page A provenance and actual filters. ADI is daily inverse nonzero-sales frequency; do not claim a threshold absent from the selection rule. Discuss Walmart-to-MR.DIY domain shift. Twelve test weeks support a small case study, not a causal savings estimate.</a:t>
            </a:r>
          </a:p>
          <a:p>
            <a:r>
              <a:t>Target duration: 75 seconds.</a:t>
            </a:r>
          </a:p>
          <a:p>
            <a:r>
              <a:t>Sources: artifacts/demo_v2/summary_metrics.parquet, artifacts/m5_v2/summary_metrics.parquet, artifacts/m5_intermittent_v2/summary_metrics.parquet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PTO and DFL in plain language. The feasible set is fixed during SPO+ training; uncertain demand maps to objective coefficients. The optimizer participates in learning. This is probability-reweighting DRO, not Wasserstein DRO. Scenario dependence is estimated on training only; PMF temperature is selected on validation.</a:t>
            </a:r>
          </a:p>
          <a:p>
            <a:r>
              <a:t>Target duration: 90 seconds.</a:t>
            </a:r>
          </a:p>
          <a:p>
            <a:r>
              <a:t>Sources: artifacts/demo_v2/summary_metrics.parquet, artifacts/m5_v2/summary_metrics.parquet, artifacts/m5_intermittent_v2/summary_metrics.parquet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oracle knows future demand only for evaluation and never supplies a realistic recommendation. Explain why conserving total stock alone was insufficient and why matching the state/action contract matters. Show mathematical tests if asked. Negative or inconclusive model results are retained.</a:t>
            </a:r>
          </a:p>
          <a:p>
            <a:r>
              <a:t>Target duration: 80 seconds.</a:t>
            </a:r>
          </a:p>
          <a:p>
            <a:r>
              <a:t>Sources: artifacts/demo_v2/summary_metrics.parquet, artifacts/m5_v2/summary_metrics.parquet, artifacts/m5_intermittent_v2/summary_metrics.parquet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candidly, including heuristic wins and losses by advanced methods. The two stochastic ablations and oracle are available in the full report. Explain a negative paired difference favors DFL+DRO; an interval crossing zero is inconclusive on this sample. These costs are modelled outcomes, not revenue or proven operational savings.</a:t>
            </a:r>
          </a:p>
          <a:p>
            <a:r>
              <a:t>Target duration: 90 seconds.</a:t>
            </a:r>
          </a:p>
          <a:p>
            <a:r>
              <a:t>Sources: artifacts/demo_v2/summary_metrics.parquet, artifacts/m5_v2/summary_metrics.parquet, artifacts/m5_intermittent_v2/summary_metrics.parquet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the dashboard running before the interview. Use one controlled change, then return to defaults. Do not promise a latency threshold: actual solver and pipeline timings are in the artifacts. If the browser fails, use the local PDF or HTML and screenshots; do not rebuild models during the interview.</a:t>
            </a:r>
          </a:p>
          <a:p>
            <a:r>
              <a:t>Target duration: 70 seconds.</a:t>
            </a:r>
          </a:p>
          <a:p>
            <a:r>
              <a:t>Sources: artifacts/demo_v2/summary_metrics.parquet, artifacts/m5_v2/summary_metrics.parquet, artifacts/m5_intermittent_v2/summary_metrics.parquet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measured proposal. Describe the data needed from an ERP and warehouse system and how to compare against the incumbent policy. Keep humans responsible for orders. Invite questions about calibration, solver feasibility, simple baselines and why robust optimization can cost more.</a:t>
            </a:r>
          </a:p>
          <a:p>
            <a:r>
              <a:t>Target duration: 70 seconds.</a:t>
            </a:r>
          </a:p>
          <a:p>
            <a:r>
              <a:t>Sources: artifacts/demo_v2/summary_metrics.parquet, artifacts/m5_v2/summary_metrics.parquet, artifacts/m5_intermittent_v2/summary_metrics.parquet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274320"/>
          </a:xfrm>
          <a:prstGeom prst="rect">
            <a:avLst/>
          </a:prstGeom>
          <a:noFill/>
        </p:spPr>
        <p:txBody>
          <a:bodyPr wrap="square">
            <a:spAutoFit/>
          </a:bodyPr>
          <a:lstStyle/>
          <a:p>
            <a:pPr>
              <a:spcAft>
                <a:spcPts val="800"/>
              </a:spcAft>
              <a:defRPr sz="1100" b="1">
                <a:solidFill>
                  <a:srgbClr val="0369A1"/>
                </a:solidFill>
                <a:latin typeface="Arial"/>
              </a:defRPr>
            </a:pPr>
            <a:r>
              <a:t>DECISION INTELLIGENCE / INTERVIEW RESEARCH PROTOTYPE</a:t>
            </a:r>
          </a:p>
        </p:txBody>
      </p:sp>
      <p:sp>
        <p:nvSpPr>
          <p:cNvPr id="3" name="TextBox 2"/>
          <p:cNvSpPr txBox="1"/>
          <p:nvPr/>
        </p:nvSpPr>
        <p:spPr>
          <a:xfrm>
            <a:off x="594360" y="822960"/>
            <a:ext cx="10972800" cy="594360"/>
          </a:xfrm>
          <a:prstGeom prst="rect">
            <a:avLst/>
          </a:prstGeom>
          <a:noFill/>
        </p:spPr>
        <p:txBody>
          <a:bodyPr wrap="square">
            <a:spAutoFit/>
          </a:bodyPr>
          <a:lstStyle/>
          <a:p>
            <a:pPr>
              <a:spcAft>
                <a:spcPts val="800"/>
              </a:spcAft>
              <a:defRPr sz="2800" b="1">
                <a:solidFill>
                  <a:srgbClr val="0F172A"/>
                </a:solidFill>
                <a:latin typeface="Arial"/>
              </a:defRPr>
            </a:pPr>
            <a:r>
              <a:t>Inventory allocation: from forecasts to decisions</a:t>
            </a:r>
          </a:p>
        </p:txBody>
      </p:sp>
      <p:sp>
        <p:nvSpPr>
          <p:cNvPr id="4" name="TextBox 3"/>
          <p:cNvSpPr txBox="1"/>
          <p:nvPr/>
        </p:nvSpPr>
        <p:spPr>
          <a:xfrm>
            <a:off x="594360" y="1508760"/>
            <a:ext cx="10972800" cy="457200"/>
          </a:xfrm>
          <a:prstGeom prst="rect">
            <a:avLst/>
          </a:prstGeom>
          <a:noFill/>
        </p:spPr>
        <p:txBody>
          <a:bodyPr wrap="square">
            <a:spAutoFit/>
          </a:bodyPr>
          <a:lstStyle/>
          <a:p>
            <a:pPr>
              <a:spcAft>
                <a:spcPts val="800"/>
              </a:spcAft>
              <a:defRPr sz="1500" b="0">
                <a:solidFill>
                  <a:srgbClr val="475569"/>
                </a:solidFill>
                <a:latin typeface="Arial"/>
              </a:defRPr>
            </a:pPr>
            <a:r>
              <a:t>Interview research case study | Decision intelligence for multi-store retail</a:t>
            </a:r>
          </a:p>
        </p:txBody>
      </p:sp>
      <p:sp>
        <p:nvSpPr>
          <p:cNvPr id="5" name="TextBox 4"/>
          <p:cNvSpPr txBox="1"/>
          <p:nvPr/>
        </p:nvSpPr>
        <p:spPr>
          <a:xfrm>
            <a:off x="685800" y="2148840"/>
            <a:ext cx="10835640" cy="4206240"/>
          </a:xfrm>
          <a:prstGeom prst="rect">
            <a:avLst/>
          </a:prstGeom>
          <a:noFill/>
        </p:spPr>
        <p:txBody>
          <a:bodyPr wrap="square">
            <a:spAutoFit/>
          </a:bodyPr>
          <a:lstStyle/>
          <a:p>
            <a:pPr>
              <a:spcAft>
                <a:spcPts val="800"/>
              </a:spcAft>
              <a:defRPr sz="1900" b="0">
                <a:solidFill>
                  <a:srgbClr val="1E293B"/>
                </a:solidFill>
                <a:latin typeface="Arial"/>
              </a:defRPr>
            </a:pPr>
            <a:r>
              <a:t>• Decision: how many units should a warehouse send to each store when stock and shelf space are limited?</a:t>
            </a:r>
          </a:p>
          <a:p>
            <a:pPr>
              <a:spcAft>
                <a:spcPts val="800"/>
              </a:spcAft>
              <a:defRPr sz="1900" b="0">
                <a:solidFill>
                  <a:srgbClr val="1E293B"/>
                </a:solidFill>
                <a:latin typeface="Arial"/>
              </a:defRPr>
            </a:pPr>
            <a:r>
              <a:t>• Objective: reduce shortage, holding and shipping cost while respecting integer inventory constraints.</a:t>
            </a:r>
          </a:p>
          <a:p>
            <a:pPr>
              <a:spcAft>
                <a:spcPts val="800"/>
              </a:spcAft>
              <a:defRPr sz="1900" b="0">
                <a:solidFill>
                  <a:srgbClr val="1E293B"/>
                </a:solidFill>
                <a:latin typeface="Arial"/>
              </a:defRPr>
            </a:pPr>
            <a:r>
              <a:t>• Deliverable: a CPU-based experiment pipeline, mathematical checks and an offline decision dashboard.</a:t>
            </a:r>
          </a:p>
          <a:p>
            <a:pPr>
              <a:spcAft>
                <a:spcPts val="800"/>
              </a:spcAft>
              <a:defRPr sz="1900" b="0">
                <a:solidFill>
                  <a:srgbClr val="1E293B"/>
                </a:solidFill>
                <a:latin typeface="Arial"/>
              </a:defRPr>
            </a:pPr>
            <a:r>
              <a:t>• Evidence: Walmart M5 sales proxies with synthetic operating economics; no claim of actual retailer savings.</a:t>
            </a:r>
          </a:p>
        </p:txBody>
      </p:sp>
      <p:sp>
        <p:nvSpPr>
          <p:cNvPr id="6" name="TextBox 5"/>
          <p:cNvSpPr txBox="1"/>
          <p:nvPr/>
        </p:nvSpPr>
        <p:spPr>
          <a:xfrm>
            <a:off x="594360" y="6428232"/>
            <a:ext cx="10972800" cy="228600"/>
          </a:xfrm>
          <a:prstGeom prst="rect">
            <a:avLst/>
          </a:prstGeom>
          <a:noFill/>
        </p:spPr>
        <p:txBody>
          <a:bodyPr wrap="square">
            <a:spAutoFit/>
          </a:bodyPr>
          <a:lstStyle/>
          <a:p>
            <a:pPr>
              <a:spcAft>
                <a:spcPts val="800"/>
              </a:spcAft>
              <a:defRPr sz="1000" b="0">
                <a:solidFill>
                  <a:srgbClr val="64748B"/>
                </a:solidFill>
                <a:latin typeface="Arial"/>
              </a:defRPr>
            </a:pPr>
            <a:r>
              <a:t>Synthetic MU economics | Corrected v2 experiments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274320"/>
          </a:xfrm>
          <a:prstGeom prst="rect">
            <a:avLst/>
          </a:prstGeom>
          <a:noFill/>
        </p:spPr>
        <p:txBody>
          <a:bodyPr wrap="square">
            <a:spAutoFit/>
          </a:bodyPr>
          <a:lstStyle/>
          <a:p>
            <a:pPr>
              <a:spcAft>
                <a:spcPts val="800"/>
              </a:spcAft>
              <a:defRPr sz="1100" b="1">
                <a:solidFill>
                  <a:srgbClr val="0369A1"/>
                </a:solidFill>
                <a:latin typeface="Arial"/>
              </a:defRPr>
            </a:pPr>
            <a:r>
              <a:t>DECISION INTELLIGENCE / INTERVIEW RESEARCH PROTOTYPE</a:t>
            </a:r>
          </a:p>
        </p:txBody>
      </p:sp>
      <p:sp>
        <p:nvSpPr>
          <p:cNvPr id="3" name="TextBox 2"/>
          <p:cNvSpPr txBox="1"/>
          <p:nvPr/>
        </p:nvSpPr>
        <p:spPr>
          <a:xfrm>
            <a:off x="594360" y="822960"/>
            <a:ext cx="10972800" cy="594360"/>
          </a:xfrm>
          <a:prstGeom prst="rect">
            <a:avLst/>
          </a:prstGeom>
          <a:noFill/>
        </p:spPr>
        <p:txBody>
          <a:bodyPr wrap="square">
            <a:spAutoFit/>
          </a:bodyPr>
          <a:lstStyle/>
          <a:p>
            <a:pPr>
              <a:spcAft>
                <a:spcPts val="800"/>
              </a:spcAft>
              <a:defRPr sz="2800" b="1">
                <a:solidFill>
                  <a:srgbClr val="0F172A"/>
                </a:solidFill>
                <a:latin typeface="Arial"/>
              </a:defRPr>
            </a:pPr>
            <a:r>
              <a:t>Data and assumptions define the experiment</a:t>
            </a:r>
          </a:p>
        </p:txBody>
      </p:sp>
      <p:sp>
        <p:nvSpPr>
          <p:cNvPr id="4" name="TextBox 3"/>
          <p:cNvSpPr txBox="1"/>
          <p:nvPr/>
        </p:nvSpPr>
        <p:spPr>
          <a:xfrm>
            <a:off x="594360" y="1508760"/>
            <a:ext cx="10972800" cy="457200"/>
          </a:xfrm>
          <a:prstGeom prst="rect">
            <a:avLst/>
          </a:prstGeom>
          <a:noFill/>
        </p:spPr>
        <p:txBody>
          <a:bodyPr wrap="square">
            <a:spAutoFit/>
          </a:bodyPr>
          <a:lstStyle/>
          <a:p>
            <a:pPr>
              <a:spcAft>
                <a:spcPts val="800"/>
              </a:spcAft>
              <a:defRPr sz="1500" b="0">
                <a:solidFill>
                  <a:srgbClr val="475569"/>
                </a:solidFill>
                <a:latin typeface="Arial"/>
              </a:defRPr>
            </a:pPr>
            <a:r>
              <a:t>Chronological evaluation and explicit provenance</a:t>
            </a:r>
          </a:p>
        </p:txBody>
      </p:sp>
      <p:sp>
        <p:nvSpPr>
          <p:cNvPr id="5" name="TextBox 4"/>
          <p:cNvSpPr txBox="1"/>
          <p:nvPr/>
        </p:nvSpPr>
        <p:spPr>
          <a:xfrm>
            <a:off x="685800" y="2148840"/>
            <a:ext cx="10835640" cy="4206240"/>
          </a:xfrm>
          <a:prstGeom prst="rect">
            <a:avLst/>
          </a:prstGeom>
          <a:noFill/>
        </p:spPr>
        <p:txBody>
          <a:bodyPr wrap="square">
            <a:spAutoFit/>
          </a:bodyPr>
          <a:lstStyle/>
          <a:p>
            <a:pPr>
              <a:spcAft>
                <a:spcPts val="800"/>
              </a:spcAft>
              <a:defRPr sz="1900" b="0">
                <a:solidFill>
                  <a:srgbClr val="1E293B"/>
                </a:solidFill>
                <a:latin typeface="Arial"/>
              </a:defRPr>
            </a:pPr>
            <a:r>
              <a:t>• Regular and intermittent cohorts: 5 stores and 10 HOUSEHOLD SKUs each, selected using training history only.</a:t>
            </a:r>
          </a:p>
          <a:p>
            <a:pPr>
              <a:spcAft>
                <a:spcPts val="800"/>
              </a:spcAft>
              <a:defRPr sz="1900" b="0">
                <a:solidFill>
                  <a:srgbClr val="1E293B"/>
                </a:solidFill>
                <a:latin typeface="Arial"/>
              </a:defRPr>
            </a:pPr>
            <a:r>
              <a:t>• Each origin predicts the next seven calendar days. Main M5 split: 100 training, 8 validation and 12 test origins.</a:t>
            </a:r>
          </a:p>
          <a:p>
            <a:pPr>
              <a:spcAft>
                <a:spcPts val="800"/>
              </a:spcAft>
              <a:defRPr sz="1900" b="0">
                <a:solidFill>
                  <a:srgbClr val="1E293B"/>
                </a:solidFill>
                <a:latin typeface="Arial"/>
              </a:defRPr>
            </a:pPr>
            <a:r>
              <a:t>• Features use completed history; calendar events are known in advance. Future realized prices are excluded.</a:t>
            </a:r>
          </a:p>
          <a:p>
            <a:pPr>
              <a:spcAft>
                <a:spcPts val="800"/>
              </a:spcAft>
              <a:defRPr sz="1900" b="0">
                <a:solidFill>
                  <a:srgbClr val="1E293B"/>
                </a:solidFill>
                <a:latin typeface="Arial"/>
              </a:defRPr>
            </a:pPr>
            <a:r>
              <a:t>• Stock, supply, capacity and MU costs are synthetic. Observed sales can understate latent demand during stockouts.</a:t>
            </a:r>
          </a:p>
          <a:p>
            <a:pPr>
              <a:spcAft>
                <a:spcPts val="800"/>
              </a:spcAft>
              <a:defRPr sz="1900" b="0">
                <a:solidFill>
                  <a:srgbClr val="1E293B"/>
                </a:solidFill>
                <a:latin typeface="Arial"/>
              </a:defRPr>
            </a:pPr>
            <a:r>
              <a:t>• The v2 runs reuse previously inspected test periods: these are corrected retrospective experiments.</a:t>
            </a:r>
          </a:p>
        </p:txBody>
      </p:sp>
      <p:sp>
        <p:nvSpPr>
          <p:cNvPr id="6" name="TextBox 5"/>
          <p:cNvSpPr txBox="1"/>
          <p:nvPr/>
        </p:nvSpPr>
        <p:spPr>
          <a:xfrm>
            <a:off x="594360" y="6428232"/>
            <a:ext cx="10972800" cy="228600"/>
          </a:xfrm>
          <a:prstGeom prst="rect">
            <a:avLst/>
          </a:prstGeom>
          <a:noFill/>
        </p:spPr>
        <p:txBody>
          <a:bodyPr wrap="square">
            <a:spAutoFit/>
          </a:bodyPr>
          <a:lstStyle/>
          <a:p>
            <a:pPr>
              <a:spcAft>
                <a:spcPts val="800"/>
              </a:spcAft>
              <a:defRPr sz="1000" b="0">
                <a:solidFill>
                  <a:srgbClr val="64748B"/>
                </a:solidFill>
                <a:latin typeface="Arial"/>
              </a:defRPr>
            </a:pPr>
            <a:r>
              <a:t>Synthetic MU economics | Corrected v2 experiments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274320"/>
          </a:xfrm>
          <a:prstGeom prst="rect">
            <a:avLst/>
          </a:prstGeom>
          <a:noFill/>
        </p:spPr>
        <p:txBody>
          <a:bodyPr wrap="square">
            <a:spAutoFit/>
          </a:bodyPr>
          <a:lstStyle/>
          <a:p>
            <a:pPr>
              <a:spcAft>
                <a:spcPts val="800"/>
              </a:spcAft>
              <a:defRPr sz="1100" b="1">
                <a:solidFill>
                  <a:srgbClr val="0369A1"/>
                </a:solidFill>
                <a:latin typeface="Arial"/>
              </a:defRPr>
            </a:pPr>
            <a:r>
              <a:t>DECISION INTELLIGENCE / INTERVIEW RESEARCH PROTOTYPE</a:t>
            </a:r>
          </a:p>
        </p:txBody>
      </p:sp>
      <p:sp>
        <p:nvSpPr>
          <p:cNvPr id="3" name="TextBox 2"/>
          <p:cNvSpPr txBox="1"/>
          <p:nvPr/>
        </p:nvSpPr>
        <p:spPr>
          <a:xfrm>
            <a:off x="594360" y="822960"/>
            <a:ext cx="10972800" cy="594360"/>
          </a:xfrm>
          <a:prstGeom prst="rect">
            <a:avLst/>
          </a:prstGeom>
          <a:noFill/>
        </p:spPr>
        <p:txBody>
          <a:bodyPr wrap="square">
            <a:spAutoFit/>
          </a:bodyPr>
          <a:lstStyle/>
          <a:p>
            <a:pPr>
              <a:spcAft>
                <a:spcPts val="800"/>
              </a:spcAft>
              <a:defRPr sz="2800" b="1">
                <a:solidFill>
                  <a:srgbClr val="0F172A"/>
                </a:solidFill>
                <a:latin typeface="Arial"/>
              </a:defRPr>
            </a:pPr>
            <a:r>
              <a:t>Learning and optimization answer different questions</a:t>
            </a:r>
          </a:p>
        </p:txBody>
      </p:sp>
      <p:sp>
        <p:nvSpPr>
          <p:cNvPr id="4" name="TextBox 3"/>
          <p:cNvSpPr txBox="1"/>
          <p:nvPr/>
        </p:nvSpPr>
        <p:spPr>
          <a:xfrm>
            <a:off x="594360" y="1508760"/>
            <a:ext cx="10972800" cy="457200"/>
          </a:xfrm>
          <a:prstGeom prst="rect">
            <a:avLst/>
          </a:prstGeom>
          <a:noFill/>
        </p:spPr>
        <p:txBody>
          <a:bodyPr wrap="square">
            <a:spAutoFit/>
          </a:bodyPr>
          <a:lstStyle/>
          <a:p>
            <a:pPr>
              <a:spcAft>
                <a:spcPts val="800"/>
              </a:spcAft>
              <a:defRPr sz="1500" b="0">
                <a:solidFill>
                  <a:srgbClr val="475569"/>
                </a:solidFill>
                <a:latin typeface="Arial"/>
              </a:defRPr>
            </a:pPr>
            <a:r>
              <a:t>A distribution feeds the decision; SPO+ supplies training feedback</a:t>
            </a:r>
          </a:p>
        </p:txBody>
      </p:sp>
      <p:sp>
        <p:nvSpPr>
          <p:cNvPr id="5" name="Rounded Rectangle 4"/>
          <p:cNvSpPr/>
          <p:nvPr/>
        </p:nvSpPr>
        <p:spPr>
          <a:xfrm>
            <a:off x="685800" y="2103120"/>
            <a:ext cx="2377440" cy="822960"/>
          </a:xfrm>
          <a:prstGeom prst="roundRect">
            <a:avLst/>
          </a:prstGeom>
          <a:solidFill>
            <a:srgbClr val="E0F2FE"/>
          </a:solidFill>
          <a:ln>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249424"/>
            <a:ext cx="2139696" cy="594360"/>
          </a:xfrm>
          <a:prstGeom prst="rect">
            <a:avLst/>
          </a:prstGeom>
          <a:noFill/>
        </p:spPr>
        <p:txBody>
          <a:bodyPr wrap="square">
            <a:spAutoFit/>
          </a:bodyPr>
          <a:lstStyle/>
          <a:p>
            <a:pPr>
              <a:spcAft>
                <a:spcPts val="800"/>
              </a:spcAft>
              <a:defRPr sz="1700" b="1">
                <a:solidFill>
                  <a:srgbClr val="0F172A"/>
                </a:solidFill>
                <a:latin typeface="Arial"/>
              </a:defRPr>
            </a:pPr>
            <a:r>
              <a:t>Pre-origin features</a:t>
            </a:r>
          </a:p>
        </p:txBody>
      </p:sp>
      <p:sp>
        <p:nvSpPr>
          <p:cNvPr id="7" name="TextBox 6"/>
          <p:cNvSpPr txBox="1"/>
          <p:nvPr/>
        </p:nvSpPr>
        <p:spPr>
          <a:xfrm>
            <a:off x="3136392" y="2286000"/>
            <a:ext cx="365760" cy="457200"/>
          </a:xfrm>
          <a:prstGeom prst="rect">
            <a:avLst/>
          </a:prstGeom>
          <a:noFill/>
        </p:spPr>
        <p:txBody>
          <a:bodyPr wrap="square">
            <a:spAutoFit/>
          </a:bodyPr>
          <a:lstStyle/>
          <a:p>
            <a:pPr>
              <a:spcAft>
                <a:spcPts val="800"/>
              </a:spcAft>
              <a:defRPr sz="2200" b="0">
                <a:solidFill>
                  <a:srgbClr val="0369A1"/>
                </a:solidFill>
                <a:latin typeface="Arial"/>
              </a:defRPr>
            </a:pPr>
            <a:r>
              <a:t>→</a:t>
            </a:r>
          </a:p>
        </p:txBody>
      </p:sp>
      <p:sp>
        <p:nvSpPr>
          <p:cNvPr id="8" name="Rounded Rectangle 7"/>
          <p:cNvSpPr/>
          <p:nvPr/>
        </p:nvSpPr>
        <p:spPr>
          <a:xfrm>
            <a:off x="3520440" y="2103120"/>
            <a:ext cx="2377440" cy="822960"/>
          </a:xfrm>
          <a:prstGeom prst="roundRect">
            <a:avLst/>
          </a:prstGeom>
          <a:solidFill>
            <a:srgbClr val="E0F2FE"/>
          </a:solidFill>
          <a:ln>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2249424"/>
            <a:ext cx="2139696" cy="594360"/>
          </a:xfrm>
          <a:prstGeom prst="rect">
            <a:avLst/>
          </a:prstGeom>
          <a:noFill/>
        </p:spPr>
        <p:txBody>
          <a:bodyPr wrap="square">
            <a:spAutoFit/>
          </a:bodyPr>
          <a:lstStyle/>
          <a:p>
            <a:pPr>
              <a:spcAft>
                <a:spcPts val="800"/>
              </a:spcAft>
              <a:defRPr sz="1700" b="1">
                <a:solidFill>
                  <a:srgbClr val="0F172A"/>
                </a:solidFill>
                <a:latin typeface="Arial"/>
              </a:defRPr>
            </a:pPr>
            <a:r>
              <a:t>Calibrated demand PMF</a:t>
            </a:r>
          </a:p>
        </p:txBody>
      </p:sp>
      <p:sp>
        <p:nvSpPr>
          <p:cNvPr id="10" name="TextBox 9"/>
          <p:cNvSpPr txBox="1"/>
          <p:nvPr/>
        </p:nvSpPr>
        <p:spPr>
          <a:xfrm>
            <a:off x="5971032" y="2286000"/>
            <a:ext cx="365760" cy="457200"/>
          </a:xfrm>
          <a:prstGeom prst="rect">
            <a:avLst/>
          </a:prstGeom>
          <a:noFill/>
        </p:spPr>
        <p:txBody>
          <a:bodyPr wrap="square">
            <a:spAutoFit/>
          </a:bodyPr>
          <a:lstStyle/>
          <a:p>
            <a:pPr>
              <a:spcAft>
                <a:spcPts val="800"/>
              </a:spcAft>
              <a:defRPr sz="2200" b="0">
                <a:solidFill>
                  <a:srgbClr val="0369A1"/>
                </a:solidFill>
                <a:latin typeface="Arial"/>
              </a:defRPr>
            </a:pPr>
            <a:r>
              <a:t>→</a:t>
            </a:r>
          </a:p>
        </p:txBody>
      </p:sp>
      <p:sp>
        <p:nvSpPr>
          <p:cNvPr id="11" name="Rounded Rectangle 10"/>
          <p:cNvSpPr/>
          <p:nvPr/>
        </p:nvSpPr>
        <p:spPr>
          <a:xfrm>
            <a:off x="6355080" y="2103120"/>
            <a:ext cx="2377440" cy="822960"/>
          </a:xfrm>
          <a:prstGeom prst="roundRect">
            <a:avLst/>
          </a:prstGeom>
          <a:solidFill>
            <a:srgbClr val="E0F2FE"/>
          </a:solidFill>
          <a:ln>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249424"/>
            <a:ext cx="2139696" cy="594360"/>
          </a:xfrm>
          <a:prstGeom prst="rect">
            <a:avLst/>
          </a:prstGeom>
          <a:noFill/>
        </p:spPr>
        <p:txBody>
          <a:bodyPr wrap="square">
            <a:spAutoFit/>
          </a:bodyPr>
          <a:lstStyle/>
          <a:p>
            <a:pPr>
              <a:spcAft>
                <a:spcPts val="800"/>
              </a:spcAft>
              <a:defRPr sz="1700" b="1">
                <a:solidFill>
                  <a:srgbClr val="0F172A"/>
                </a:solidFill>
                <a:latin typeface="Arial"/>
              </a:defRPr>
            </a:pPr>
            <a:r>
              <a:t>Marginal costs / joint scenarios</a:t>
            </a:r>
          </a:p>
        </p:txBody>
      </p:sp>
      <p:sp>
        <p:nvSpPr>
          <p:cNvPr id="13" name="TextBox 12"/>
          <p:cNvSpPr txBox="1"/>
          <p:nvPr/>
        </p:nvSpPr>
        <p:spPr>
          <a:xfrm>
            <a:off x="8805672" y="2286000"/>
            <a:ext cx="365760" cy="457200"/>
          </a:xfrm>
          <a:prstGeom prst="rect">
            <a:avLst/>
          </a:prstGeom>
          <a:noFill/>
        </p:spPr>
        <p:txBody>
          <a:bodyPr wrap="square">
            <a:spAutoFit/>
          </a:bodyPr>
          <a:lstStyle/>
          <a:p>
            <a:pPr>
              <a:spcAft>
                <a:spcPts val="800"/>
              </a:spcAft>
              <a:defRPr sz="2200" b="0">
                <a:solidFill>
                  <a:srgbClr val="0369A1"/>
                </a:solidFill>
                <a:latin typeface="Arial"/>
              </a:defRPr>
            </a:pPr>
            <a:r>
              <a:t>→</a:t>
            </a:r>
          </a:p>
        </p:txBody>
      </p:sp>
      <p:sp>
        <p:nvSpPr>
          <p:cNvPr id="14" name="Rounded Rectangle 13"/>
          <p:cNvSpPr/>
          <p:nvPr/>
        </p:nvSpPr>
        <p:spPr>
          <a:xfrm>
            <a:off x="9189720" y="2103120"/>
            <a:ext cx="2377440" cy="822960"/>
          </a:xfrm>
          <a:prstGeom prst="roundRect">
            <a:avLst/>
          </a:prstGeom>
          <a:solidFill>
            <a:srgbClr val="E0F2FE"/>
          </a:solidFill>
          <a:ln>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08592" y="2249424"/>
            <a:ext cx="2139696" cy="594360"/>
          </a:xfrm>
          <a:prstGeom prst="rect">
            <a:avLst/>
          </a:prstGeom>
          <a:noFill/>
        </p:spPr>
        <p:txBody>
          <a:bodyPr wrap="square">
            <a:spAutoFit/>
          </a:bodyPr>
          <a:lstStyle/>
          <a:p>
            <a:pPr>
              <a:spcAft>
                <a:spcPts val="800"/>
              </a:spcAft>
              <a:defRPr sz="1700" b="1">
                <a:solidFill>
                  <a:srgbClr val="0F172A"/>
                </a:solidFill>
                <a:latin typeface="Arial"/>
              </a:defRPr>
            </a:pPr>
            <a:r>
              <a:t>Integer allocation</a:t>
            </a:r>
          </a:p>
        </p:txBody>
      </p:sp>
      <p:sp>
        <p:nvSpPr>
          <p:cNvPr id="16" name="TextBox 15"/>
          <p:cNvSpPr txBox="1"/>
          <p:nvPr/>
        </p:nvSpPr>
        <p:spPr>
          <a:xfrm>
            <a:off x="685800" y="3154680"/>
            <a:ext cx="10835640" cy="502920"/>
          </a:xfrm>
          <a:prstGeom prst="rect">
            <a:avLst/>
          </a:prstGeom>
          <a:noFill/>
        </p:spPr>
        <p:txBody>
          <a:bodyPr wrap="square">
            <a:spAutoFit/>
          </a:bodyPr>
          <a:lstStyle/>
          <a:p>
            <a:pPr>
              <a:spcAft>
                <a:spcPts val="800"/>
              </a:spcAft>
              <a:defRPr sz="1600" b="0">
                <a:solidFill>
                  <a:srgbClr val="0369A1"/>
                </a:solidFill>
                <a:latin typeface="Arial"/>
              </a:defRPr>
            </a:pPr>
            <a:r>
              <a:t>Training feedback: SPO+ updates the PMF through a fixed feasible optimization template.</a:t>
            </a:r>
          </a:p>
        </p:txBody>
      </p:sp>
      <p:sp>
        <p:nvSpPr>
          <p:cNvPr id="17" name="TextBox 16"/>
          <p:cNvSpPr txBox="1"/>
          <p:nvPr/>
        </p:nvSpPr>
        <p:spPr>
          <a:xfrm>
            <a:off x="685800" y="3840480"/>
            <a:ext cx="10835640" cy="2514600"/>
          </a:xfrm>
          <a:prstGeom prst="rect">
            <a:avLst/>
          </a:prstGeom>
          <a:noFill/>
        </p:spPr>
        <p:txBody>
          <a:bodyPr wrap="square">
            <a:spAutoFit/>
          </a:bodyPr>
          <a:lstStyle/>
          <a:p>
            <a:pPr>
              <a:spcAft>
                <a:spcPts val="800"/>
              </a:spcAft>
              <a:defRPr sz="1900" b="0">
                <a:solidFill>
                  <a:srgbClr val="1E293B"/>
                </a:solidFill>
                <a:latin typeface="Arial"/>
              </a:defRPr>
            </a:pPr>
            <a:r>
              <a:t>• Matched learning: the same architecture, initialization, batches and budget; DFL adds normalized SPO+.</a:t>
            </a:r>
          </a:p>
          <a:p>
            <a:pPr>
              <a:spcAft>
                <a:spcPts val="800"/>
              </a:spcAft>
              <a:defRPr sz="1900" b="0">
                <a:solidFill>
                  <a:srgbClr val="1E293B"/>
                </a:solidFill>
                <a:latin typeface="Arial"/>
              </a:defRPr>
            </a:pPr>
            <a:r>
              <a:t>• Probability-reweighting DRO: sum(w)=1 and 0 &lt;= w[j] &lt;= p[j]/(1-alpha). Its worst expected loss equals CVaR.</a:t>
            </a:r>
          </a:p>
          <a:p>
            <a:pPr>
              <a:spcAft>
                <a:spcPts val="800"/>
              </a:spcAft>
              <a:defRPr sz="1900" b="0">
                <a:solidFill>
                  <a:srgbClr val="1E293B"/>
                </a:solidFill>
                <a:latin typeface="Arial"/>
              </a:defRPr>
            </a:pPr>
            <a:r>
              <a:t>• Risk-neutral scenario ablations isolate sampling from risk aversion; weight zero is expected-cost optimization.</a:t>
            </a:r>
          </a:p>
        </p:txBody>
      </p:sp>
      <p:sp>
        <p:nvSpPr>
          <p:cNvPr id="18" name="TextBox 17"/>
          <p:cNvSpPr txBox="1"/>
          <p:nvPr/>
        </p:nvSpPr>
        <p:spPr>
          <a:xfrm>
            <a:off x="594360" y="6428232"/>
            <a:ext cx="10972800" cy="228600"/>
          </a:xfrm>
          <a:prstGeom prst="rect">
            <a:avLst/>
          </a:prstGeom>
          <a:noFill/>
        </p:spPr>
        <p:txBody>
          <a:bodyPr wrap="square">
            <a:spAutoFit/>
          </a:bodyPr>
          <a:lstStyle/>
          <a:p>
            <a:pPr>
              <a:spcAft>
                <a:spcPts val="800"/>
              </a:spcAft>
              <a:defRPr sz="1000" b="0">
                <a:solidFill>
                  <a:srgbClr val="64748B"/>
                </a:solidFill>
                <a:latin typeface="Arial"/>
              </a:defRPr>
            </a:pPr>
            <a:r>
              <a:t>Synthetic MU economics | Corrected v2 experiments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274320"/>
          </a:xfrm>
          <a:prstGeom prst="rect">
            <a:avLst/>
          </a:prstGeom>
          <a:noFill/>
        </p:spPr>
        <p:txBody>
          <a:bodyPr wrap="square">
            <a:spAutoFit/>
          </a:bodyPr>
          <a:lstStyle/>
          <a:p>
            <a:pPr>
              <a:spcAft>
                <a:spcPts val="800"/>
              </a:spcAft>
              <a:defRPr sz="1100" b="1">
                <a:solidFill>
                  <a:srgbClr val="0369A1"/>
                </a:solidFill>
                <a:latin typeface="Arial"/>
              </a:defRPr>
            </a:pPr>
            <a:r>
              <a:t>DECISION INTELLIGENCE / INTERVIEW RESEARCH PROTOTYPE</a:t>
            </a:r>
          </a:p>
        </p:txBody>
      </p:sp>
      <p:sp>
        <p:nvSpPr>
          <p:cNvPr id="3" name="TextBox 2"/>
          <p:cNvSpPr txBox="1"/>
          <p:nvPr/>
        </p:nvSpPr>
        <p:spPr>
          <a:xfrm>
            <a:off x="594360" y="822960"/>
            <a:ext cx="10972800" cy="594360"/>
          </a:xfrm>
          <a:prstGeom prst="rect">
            <a:avLst/>
          </a:prstGeom>
          <a:noFill/>
        </p:spPr>
        <p:txBody>
          <a:bodyPr wrap="square">
            <a:spAutoFit/>
          </a:bodyPr>
          <a:lstStyle/>
          <a:p>
            <a:pPr>
              <a:spcAft>
                <a:spcPts val="800"/>
              </a:spcAft>
              <a:defRPr sz="2800" b="1">
                <a:solidFill>
                  <a:srgbClr val="0F172A"/>
                </a:solidFill>
                <a:latin typeface="Arial"/>
              </a:defRPr>
            </a:pPr>
            <a:r>
              <a:t>Test the decision, not only the forecast</a:t>
            </a:r>
          </a:p>
        </p:txBody>
      </p:sp>
      <p:sp>
        <p:nvSpPr>
          <p:cNvPr id="4" name="TextBox 3"/>
          <p:cNvSpPr txBox="1"/>
          <p:nvPr/>
        </p:nvSpPr>
        <p:spPr>
          <a:xfrm>
            <a:off x="594360" y="1508760"/>
            <a:ext cx="10972800" cy="457200"/>
          </a:xfrm>
          <a:prstGeom prst="rect">
            <a:avLst/>
          </a:prstGeom>
          <a:noFill/>
        </p:spPr>
        <p:txBody>
          <a:bodyPr wrap="square">
            <a:spAutoFit/>
          </a:bodyPr>
          <a:lstStyle/>
          <a:p>
            <a:pPr>
              <a:spcAft>
                <a:spcPts val="800"/>
              </a:spcAft>
              <a:defRPr sz="1500" b="0">
                <a:solidFill>
                  <a:srgbClr val="475569"/>
                </a:solidFill>
                <a:latin typeface="Arial"/>
              </a:defRPr>
            </a:pPr>
            <a:r>
              <a:t>Shared conditions and independent mathematical checks</a:t>
            </a:r>
          </a:p>
        </p:txBody>
      </p:sp>
      <p:sp>
        <p:nvSpPr>
          <p:cNvPr id="5" name="TextBox 4"/>
          <p:cNvSpPr txBox="1"/>
          <p:nvPr/>
        </p:nvSpPr>
        <p:spPr>
          <a:xfrm>
            <a:off x="685800" y="2148840"/>
            <a:ext cx="10835640" cy="4206240"/>
          </a:xfrm>
          <a:prstGeom prst="rect">
            <a:avLst/>
          </a:prstGeom>
          <a:noFill/>
        </p:spPr>
        <p:txBody>
          <a:bodyPr wrap="square">
            <a:spAutoFit/>
          </a:bodyPr>
          <a:lstStyle/>
          <a:p>
            <a:pPr>
              <a:spcAft>
                <a:spcPts val="800"/>
              </a:spcAft>
              <a:defRPr sz="1900" b="0">
                <a:solidFill>
                  <a:srgbClr val="1E293B"/>
                </a:solidFill>
                <a:latin typeface="Arial"/>
              </a:defRPr>
            </a:pPr>
            <a:r>
              <a:t>• Seven required policies plus two diagnostic ablations use the same origin, stock, supply, capacity and realized target.</a:t>
            </a:r>
          </a:p>
          <a:p>
            <a:pPr>
              <a:spcAft>
                <a:spcPts val="800"/>
              </a:spcAft>
              <a:defRPr sz="1900" b="0">
                <a:solidFill>
                  <a:srgbClr val="1E293B"/>
                </a:solidFill>
                <a:latin typeface="Arial"/>
              </a:defRPr>
            </a:pPr>
            <a:r>
              <a:t>• Primary outcomes: held-out cost, hindsight regret and fill rate; forecast error is a diagnostic.</a:t>
            </a:r>
          </a:p>
          <a:p>
            <a:pPr>
              <a:spcAft>
                <a:spcPts val="800"/>
              </a:spcAft>
              <a:defRPr sz="1900" b="0">
                <a:solidFill>
                  <a:srgbClr val="1E293B"/>
                </a:solidFill>
                <a:latin typeface="Arial"/>
              </a:defRPr>
            </a:pPr>
            <a:r>
              <a:t>• Three independent seeds use equal budgets and their own validation calibration and risk selection.</a:t>
            </a:r>
          </a:p>
          <a:p>
            <a:pPr>
              <a:spcAft>
                <a:spcPts val="800"/>
              </a:spcAft>
              <a:defRPr sz="1900" b="0">
                <a:solidFill>
                  <a:srgbClr val="1E293B"/>
                </a:solidFill>
                <a:latin typeface="Arial"/>
              </a:defRPr>
            </a:pPr>
            <a:r>
              <a:t>• Paired moving-block intervals resample time origins. Small samples and few tail weeks limit certainty.</a:t>
            </a:r>
          </a:p>
          <a:p>
            <a:pPr>
              <a:spcAft>
                <a:spcPts val="800"/>
              </a:spcAft>
              <a:defRPr sz="1900" b="0">
                <a:solidFill>
                  <a:srgbClr val="1E293B"/>
                </a:solidFill>
                <a:latin typeface="Arial"/>
              </a:defRPr>
            </a:pPr>
            <a:r>
              <a:t>• Carryover extension: explicit dispatch, admissions and deferred inventory; the hindsight MILP is replayed and tested against exhaustive tiny cases.</a:t>
            </a:r>
          </a:p>
        </p:txBody>
      </p:sp>
      <p:sp>
        <p:nvSpPr>
          <p:cNvPr id="6" name="TextBox 5"/>
          <p:cNvSpPr txBox="1"/>
          <p:nvPr/>
        </p:nvSpPr>
        <p:spPr>
          <a:xfrm>
            <a:off x="594360" y="6428232"/>
            <a:ext cx="10972800" cy="228600"/>
          </a:xfrm>
          <a:prstGeom prst="rect">
            <a:avLst/>
          </a:prstGeom>
          <a:noFill/>
        </p:spPr>
        <p:txBody>
          <a:bodyPr wrap="square">
            <a:spAutoFit/>
          </a:bodyPr>
          <a:lstStyle/>
          <a:p>
            <a:pPr>
              <a:spcAft>
                <a:spcPts val="800"/>
              </a:spcAft>
              <a:defRPr sz="1000" b="0">
                <a:solidFill>
                  <a:srgbClr val="64748B"/>
                </a:solidFill>
                <a:latin typeface="Arial"/>
              </a:defRPr>
            </a:pPr>
            <a:r>
              <a:t>Synthetic MU economics | Corrected v2 experiments | 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274320"/>
          </a:xfrm>
          <a:prstGeom prst="rect">
            <a:avLst/>
          </a:prstGeom>
          <a:noFill/>
        </p:spPr>
        <p:txBody>
          <a:bodyPr wrap="square">
            <a:spAutoFit/>
          </a:bodyPr>
          <a:lstStyle/>
          <a:p>
            <a:pPr>
              <a:spcAft>
                <a:spcPts val="800"/>
              </a:spcAft>
              <a:defRPr sz="1100" b="1">
                <a:solidFill>
                  <a:srgbClr val="0369A1"/>
                </a:solidFill>
                <a:latin typeface="Arial"/>
              </a:defRPr>
            </a:pPr>
            <a:r>
              <a:t>DECISION INTELLIGENCE / INTERVIEW RESEARCH PROTOTYPE</a:t>
            </a:r>
          </a:p>
        </p:txBody>
      </p:sp>
      <p:sp>
        <p:nvSpPr>
          <p:cNvPr id="3" name="TextBox 2"/>
          <p:cNvSpPr txBox="1"/>
          <p:nvPr/>
        </p:nvSpPr>
        <p:spPr>
          <a:xfrm>
            <a:off x="594360" y="822960"/>
            <a:ext cx="10972800" cy="594360"/>
          </a:xfrm>
          <a:prstGeom prst="rect">
            <a:avLst/>
          </a:prstGeom>
          <a:noFill/>
        </p:spPr>
        <p:txBody>
          <a:bodyPr wrap="square">
            <a:spAutoFit/>
          </a:bodyPr>
          <a:lstStyle/>
          <a:p>
            <a:pPr>
              <a:spcAft>
                <a:spcPts val="800"/>
              </a:spcAft>
              <a:defRPr sz="2800" b="1">
                <a:solidFill>
                  <a:srgbClr val="0F172A"/>
                </a:solidFill>
                <a:latin typeface="Arial"/>
              </a:defRPr>
            </a:pPr>
            <a:r>
              <a:t>The strongest method depends on the setting</a:t>
            </a:r>
          </a:p>
        </p:txBody>
      </p:sp>
      <p:sp>
        <p:nvSpPr>
          <p:cNvPr id="4" name="TextBox 3"/>
          <p:cNvSpPr txBox="1"/>
          <p:nvPr/>
        </p:nvSpPr>
        <p:spPr>
          <a:xfrm>
            <a:off x="594360" y="1508760"/>
            <a:ext cx="10972800" cy="457200"/>
          </a:xfrm>
          <a:prstGeom prst="rect">
            <a:avLst/>
          </a:prstGeom>
          <a:noFill/>
        </p:spPr>
        <p:txBody>
          <a:bodyPr wrap="square">
            <a:spAutoFit/>
          </a:bodyPr>
          <a:lstStyle/>
          <a:p>
            <a:pPr>
              <a:spcAft>
                <a:spcPts val="800"/>
              </a:spcAft>
              <a:defRPr sz="1500" b="0">
                <a:solidFill>
                  <a:srgbClr val="475569"/>
                </a:solidFill>
                <a:latin typeface="Arial"/>
              </a:defRPr>
            </a:pPr>
            <a:r>
              <a:t>Primary seed 42: mean test-origin cost (synthetic MU; lower is better)</a:t>
            </a:r>
          </a:p>
        </p:txBody>
      </p:sp>
      <p:graphicFrame>
        <p:nvGraphicFramePr>
          <p:cNvPr id="5" name="Table 4"/>
          <p:cNvGraphicFramePr>
            <a:graphicFrameLocks noGrp="1"/>
          </p:cNvGraphicFramePr>
          <p:nvPr/>
        </p:nvGraphicFramePr>
        <p:xfrm>
          <a:off x="640080" y="2057400"/>
          <a:ext cx="10881360" cy="2240280"/>
        </p:xfrm>
        <a:graphic>
          <a:graphicData uri="http://schemas.openxmlformats.org/drawingml/2006/table">
            <a:tbl>
              <a:tblPr firstRow="1" bandRow="1">
                <a:tableStyleId>{5C22544A-7EE6-4342-B048-85BDC9FD1C3A}</a:tableStyleId>
              </a:tblPr>
              <a:tblGrid>
                <a:gridCol w="5029200"/>
                <a:gridCol w="2926080"/>
                <a:gridCol w="2926080"/>
              </a:tblGrid>
              <a:tr h="320040">
                <a:tc>
                  <a:txBody>
                    <a:bodyPr/>
                    <a:lstStyle/>
                    <a:p>
                      <a:pPr>
                        <a:defRPr sz="1700">
                          <a:solidFill>
                            <a:srgbClr val="FFFFFF"/>
                          </a:solidFill>
                          <a:latin typeface="Arial"/>
                        </a:defRPr>
                      </a:pPr>
                      <a:r>
                        <a:t>Policy</a:t>
                      </a:r>
                    </a:p>
                  </a:txBody>
                  <a:tcPr>
                    <a:solidFill>
                      <a:srgbClr val="0F172A"/>
                    </a:solidFill>
                  </a:tcPr>
                </a:tc>
                <a:tc>
                  <a:txBody>
                    <a:bodyPr/>
                    <a:lstStyle/>
                    <a:p>
                      <a:pPr>
                        <a:defRPr sz="1700">
                          <a:solidFill>
                            <a:srgbClr val="FFFFFF"/>
                          </a:solidFill>
                          <a:latin typeface="Arial"/>
                        </a:defRPr>
                      </a:pPr>
                      <a:r>
                        <a:t>Regular M5</a:t>
                      </a:r>
                    </a:p>
                  </a:txBody>
                  <a:tcPr>
                    <a:solidFill>
                      <a:srgbClr val="0F172A"/>
                    </a:solidFill>
                  </a:tcPr>
                </a:tc>
                <a:tc>
                  <a:txBody>
                    <a:bodyPr/>
                    <a:lstStyle/>
                    <a:p>
                      <a:pPr>
                        <a:defRPr sz="1700">
                          <a:solidFill>
                            <a:srgbClr val="FFFFFF"/>
                          </a:solidFill>
                          <a:latin typeface="Arial"/>
                        </a:defRPr>
                      </a:pPr>
                      <a:r>
                        <a:t>Intermittent M5</a:t>
                      </a:r>
                    </a:p>
                  </a:txBody>
                  <a:tcPr>
                    <a:solidFill>
                      <a:srgbClr val="0F172A"/>
                    </a:solidFill>
                  </a:tcPr>
                </a:tc>
              </a:tr>
              <a:tr h="320040">
                <a:tc>
                  <a:txBody>
                    <a:bodyPr/>
                    <a:lstStyle/>
                    <a:p>
                      <a:pPr>
                        <a:defRPr sz="1700">
                          <a:solidFill>
                            <a:srgbClr val="1E293B"/>
                          </a:solidFill>
                          <a:latin typeface="Arial"/>
                        </a:defRPr>
                      </a:pPr>
                      <a:r>
                        <a:t>Equal allocation</a:t>
                      </a:r>
                    </a:p>
                  </a:txBody>
                  <a:tcPr>
                    <a:solidFill>
                      <a:srgbClr val="F1F5F9"/>
                    </a:solidFill>
                  </a:tcPr>
                </a:tc>
                <a:tc>
                  <a:txBody>
                    <a:bodyPr/>
                    <a:lstStyle/>
                    <a:p>
                      <a:pPr>
                        <a:defRPr sz="1700">
                          <a:solidFill>
                            <a:srgbClr val="1E293B"/>
                          </a:solidFill>
                          <a:latin typeface="Arial"/>
                        </a:defRPr>
                      </a:pPr>
                      <a:r>
                        <a:t>1432.35</a:t>
                      </a:r>
                    </a:p>
                  </a:txBody>
                  <a:tcPr>
                    <a:solidFill>
                      <a:srgbClr val="F1F5F9"/>
                    </a:solidFill>
                  </a:tcPr>
                </a:tc>
                <a:tc>
                  <a:txBody>
                    <a:bodyPr/>
                    <a:lstStyle/>
                    <a:p>
                      <a:pPr>
                        <a:defRPr sz="1700">
                          <a:solidFill>
                            <a:srgbClr val="1E293B"/>
                          </a:solidFill>
                          <a:latin typeface="Arial"/>
                        </a:defRPr>
                      </a:pPr>
                      <a:r>
                        <a:t>174.45</a:t>
                      </a:r>
                    </a:p>
                  </a:txBody>
                  <a:tcPr>
                    <a:solidFill>
                      <a:srgbClr val="F1F5F9"/>
                    </a:solidFill>
                  </a:tcPr>
                </a:tc>
              </a:tr>
              <a:tr h="320040">
                <a:tc>
                  <a:txBody>
                    <a:bodyPr/>
                    <a:lstStyle/>
                    <a:p>
                      <a:pPr>
                        <a:defRPr sz="1700">
                          <a:solidFill>
                            <a:srgbClr val="1E293B"/>
                          </a:solidFill>
                          <a:latin typeface="Arial"/>
                        </a:defRPr>
                      </a:pPr>
                      <a:r>
                        <a:t>Proportional allocation</a:t>
                      </a:r>
                    </a:p>
                  </a:txBody>
                  <a:tcPr>
                    <a:solidFill>
                      <a:srgbClr val="F1F5F9"/>
                    </a:solidFill>
                  </a:tcPr>
                </a:tc>
                <a:tc>
                  <a:txBody>
                    <a:bodyPr/>
                    <a:lstStyle/>
                    <a:p>
                      <a:pPr>
                        <a:defRPr sz="1700">
                          <a:solidFill>
                            <a:srgbClr val="1E293B"/>
                          </a:solidFill>
                          <a:latin typeface="Arial"/>
                        </a:defRPr>
                      </a:pPr>
                      <a:r>
                        <a:t>1298.91</a:t>
                      </a:r>
                    </a:p>
                  </a:txBody>
                  <a:tcPr>
                    <a:solidFill>
                      <a:srgbClr val="F1F5F9"/>
                    </a:solidFill>
                  </a:tcPr>
                </a:tc>
                <a:tc>
                  <a:txBody>
                    <a:bodyPr/>
                    <a:lstStyle/>
                    <a:p>
                      <a:pPr>
                        <a:defRPr sz="1700">
                          <a:solidFill>
                            <a:srgbClr val="1E293B"/>
                          </a:solidFill>
                          <a:latin typeface="Arial"/>
                        </a:defRPr>
                      </a:pPr>
                      <a:r>
                        <a:t>176.94</a:t>
                      </a:r>
                    </a:p>
                  </a:txBody>
                  <a:tcPr>
                    <a:solidFill>
                      <a:srgbClr val="F1F5F9"/>
                    </a:solidFill>
                  </a:tcPr>
                </a:tc>
              </a:tr>
              <a:tr h="320040">
                <a:tc>
                  <a:txBody>
                    <a:bodyPr/>
                    <a:lstStyle/>
                    <a:p>
                      <a:pPr>
                        <a:defRPr sz="1700">
                          <a:solidFill>
                            <a:srgbClr val="1E293B"/>
                          </a:solidFill>
                          <a:latin typeface="Arial"/>
                        </a:defRPr>
                      </a:pPr>
                      <a:r>
                        <a:t>Supervised PTO</a:t>
                      </a:r>
                    </a:p>
                  </a:txBody>
                  <a:tcPr>
                    <a:solidFill>
                      <a:srgbClr val="F1F5F9"/>
                    </a:solidFill>
                  </a:tcPr>
                </a:tc>
                <a:tc>
                  <a:txBody>
                    <a:bodyPr/>
                    <a:lstStyle/>
                    <a:p>
                      <a:pPr>
                        <a:defRPr sz="1700">
                          <a:solidFill>
                            <a:srgbClr val="1E293B"/>
                          </a:solidFill>
                          <a:latin typeface="Arial"/>
                        </a:defRPr>
                      </a:pPr>
                      <a:r>
                        <a:t>1311.54</a:t>
                      </a:r>
                    </a:p>
                  </a:txBody>
                  <a:tcPr>
                    <a:solidFill>
                      <a:srgbClr val="F1F5F9"/>
                    </a:solidFill>
                  </a:tcPr>
                </a:tc>
                <a:tc>
                  <a:txBody>
                    <a:bodyPr/>
                    <a:lstStyle/>
                    <a:p>
                      <a:pPr>
                        <a:defRPr sz="1700">
                          <a:solidFill>
                            <a:srgbClr val="1E293B"/>
                          </a:solidFill>
                          <a:latin typeface="Arial"/>
                        </a:defRPr>
                      </a:pPr>
                      <a:r>
                        <a:t>169.94</a:t>
                      </a:r>
                    </a:p>
                  </a:txBody>
                  <a:tcPr>
                    <a:solidFill>
                      <a:srgbClr val="F1F5F9"/>
                    </a:solidFill>
                  </a:tcPr>
                </a:tc>
              </a:tr>
              <a:tr h="320040">
                <a:tc>
                  <a:txBody>
                    <a:bodyPr/>
                    <a:lstStyle/>
                    <a:p>
                      <a:pPr>
                        <a:defRPr sz="1700">
                          <a:solidFill>
                            <a:srgbClr val="1E293B"/>
                          </a:solidFill>
                          <a:latin typeface="Arial"/>
                        </a:defRPr>
                      </a:pPr>
                      <a:r>
                        <a:t>Supervised DRO</a:t>
                      </a:r>
                    </a:p>
                  </a:txBody>
                  <a:tcPr>
                    <a:solidFill>
                      <a:srgbClr val="F1F5F9"/>
                    </a:solidFill>
                  </a:tcPr>
                </a:tc>
                <a:tc>
                  <a:txBody>
                    <a:bodyPr/>
                    <a:lstStyle/>
                    <a:p>
                      <a:pPr>
                        <a:defRPr sz="1700">
                          <a:solidFill>
                            <a:srgbClr val="1E293B"/>
                          </a:solidFill>
                          <a:latin typeface="Arial"/>
                        </a:defRPr>
                      </a:pPr>
                      <a:r>
                        <a:t>1320.18</a:t>
                      </a:r>
                    </a:p>
                  </a:txBody>
                  <a:tcPr>
                    <a:solidFill>
                      <a:srgbClr val="F1F5F9"/>
                    </a:solidFill>
                  </a:tcPr>
                </a:tc>
                <a:tc>
                  <a:txBody>
                    <a:bodyPr/>
                    <a:lstStyle/>
                    <a:p>
                      <a:pPr>
                        <a:defRPr sz="1700">
                          <a:solidFill>
                            <a:srgbClr val="1E293B"/>
                          </a:solidFill>
                          <a:latin typeface="Arial"/>
                        </a:defRPr>
                      </a:pPr>
                      <a:r>
                        <a:t>168.89</a:t>
                      </a:r>
                    </a:p>
                  </a:txBody>
                  <a:tcPr>
                    <a:solidFill>
                      <a:srgbClr val="F1F5F9"/>
                    </a:solidFill>
                  </a:tcPr>
                </a:tc>
              </a:tr>
              <a:tr h="320040">
                <a:tc>
                  <a:txBody>
                    <a:bodyPr/>
                    <a:lstStyle/>
                    <a:p>
                      <a:pPr>
                        <a:defRPr sz="1700">
                          <a:solidFill>
                            <a:srgbClr val="1E293B"/>
                          </a:solidFill>
                          <a:latin typeface="Arial"/>
                        </a:defRPr>
                      </a:pPr>
                      <a:r>
                        <a:t>DFL PTO</a:t>
                      </a:r>
                    </a:p>
                  </a:txBody>
                  <a:tcPr>
                    <a:solidFill>
                      <a:srgbClr val="F1F5F9"/>
                    </a:solidFill>
                  </a:tcPr>
                </a:tc>
                <a:tc>
                  <a:txBody>
                    <a:bodyPr/>
                    <a:lstStyle/>
                    <a:p>
                      <a:pPr>
                        <a:defRPr sz="1700">
                          <a:solidFill>
                            <a:srgbClr val="1E293B"/>
                          </a:solidFill>
                          <a:latin typeface="Arial"/>
                        </a:defRPr>
                      </a:pPr>
                      <a:r>
                        <a:t>1305.72</a:t>
                      </a:r>
                    </a:p>
                  </a:txBody>
                  <a:tcPr>
                    <a:solidFill>
                      <a:srgbClr val="F1F5F9"/>
                    </a:solidFill>
                  </a:tcPr>
                </a:tc>
                <a:tc>
                  <a:txBody>
                    <a:bodyPr/>
                    <a:lstStyle/>
                    <a:p>
                      <a:pPr>
                        <a:defRPr sz="1700">
                          <a:solidFill>
                            <a:srgbClr val="1E293B"/>
                          </a:solidFill>
                          <a:latin typeface="Arial"/>
                        </a:defRPr>
                      </a:pPr>
                      <a:r>
                        <a:t>179.67</a:t>
                      </a:r>
                    </a:p>
                  </a:txBody>
                  <a:tcPr>
                    <a:solidFill>
                      <a:srgbClr val="F1F5F9"/>
                    </a:solidFill>
                  </a:tcPr>
                </a:tc>
              </a:tr>
              <a:tr h="320040">
                <a:tc>
                  <a:txBody>
                    <a:bodyPr/>
                    <a:lstStyle/>
                    <a:p>
                      <a:pPr>
                        <a:defRPr sz="1700">
                          <a:solidFill>
                            <a:srgbClr val="1E293B"/>
                          </a:solidFill>
                          <a:latin typeface="Arial"/>
                        </a:defRPr>
                      </a:pPr>
                      <a:r>
                        <a:t>DFL + DRO</a:t>
                      </a:r>
                    </a:p>
                  </a:txBody>
                  <a:tcPr>
                    <a:solidFill>
                      <a:srgbClr val="F1F5F9"/>
                    </a:solidFill>
                  </a:tcPr>
                </a:tc>
                <a:tc>
                  <a:txBody>
                    <a:bodyPr/>
                    <a:lstStyle/>
                    <a:p>
                      <a:pPr>
                        <a:defRPr sz="1700">
                          <a:solidFill>
                            <a:srgbClr val="1E293B"/>
                          </a:solidFill>
                          <a:latin typeface="Arial"/>
                        </a:defRPr>
                      </a:pPr>
                      <a:r>
                        <a:t>1311.75</a:t>
                      </a:r>
                    </a:p>
                  </a:txBody>
                  <a:tcPr>
                    <a:solidFill>
                      <a:srgbClr val="F1F5F9"/>
                    </a:solidFill>
                  </a:tcPr>
                </a:tc>
                <a:tc>
                  <a:txBody>
                    <a:bodyPr/>
                    <a:lstStyle/>
                    <a:p>
                      <a:pPr>
                        <a:defRPr sz="1700">
                          <a:solidFill>
                            <a:srgbClr val="1E293B"/>
                          </a:solidFill>
                          <a:latin typeface="Arial"/>
                        </a:defRPr>
                      </a:pPr>
                      <a:r>
                        <a:t>179.11</a:t>
                      </a:r>
                    </a:p>
                  </a:txBody>
                  <a:tcPr>
                    <a:solidFill>
                      <a:srgbClr val="F1F5F9"/>
                    </a:solidFill>
                  </a:tcPr>
                </a:tc>
              </a:tr>
            </a:tbl>
          </a:graphicData>
        </a:graphic>
      </p:graphicFrame>
      <p:sp>
        <p:nvSpPr>
          <p:cNvPr id="6" name="TextBox 5"/>
          <p:cNvSpPr txBox="1"/>
          <p:nvPr/>
        </p:nvSpPr>
        <p:spPr>
          <a:xfrm>
            <a:off x="685800" y="4572000"/>
            <a:ext cx="10835640" cy="1783080"/>
          </a:xfrm>
          <a:prstGeom prst="rect">
            <a:avLst/>
          </a:prstGeom>
          <a:noFill/>
        </p:spPr>
        <p:txBody>
          <a:bodyPr wrap="square">
            <a:spAutoFit/>
          </a:bodyPr>
          <a:lstStyle/>
          <a:p>
            <a:pPr>
              <a:spcAft>
                <a:spcPts val="800"/>
              </a:spcAft>
              <a:defRPr sz="1600" b="0">
                <a:solidFill>
                  <a:srgbClr val="1E293B"/>
                </a:solidFill>
                <a:latin typeface="Arial"/>
              </a:defRPr>
            </a:pPr>
            <a:r>
              <a:t>• Primary-seed non-oracle policies: regular winner proportional_allocation (1298.91 MU); intermittent winner supervised_dro (168.89 MU).</a:t>
            </a:r>
          </a:p>
          <a:p>
            <a:pPr>
              <a:spcAft>
                <a:spcPts val="800"/>
              </a:spcAft>
              <a:defRPr sz="1600" b="0">
                <a:solidFill>
                  <a:srgbClr val="1E293B"/>
                </a:solidFill>
                <a:latin typeface="Arial"/>
              </a:defRPr>
            </a:pPr>
            <a:r>
              <a:t>• Regular DFL+DRO minus supervised PTO: +0.20 MU; paired 95% band [-15.71, 10.66] MU.</a:t>
            </a:r>
          </a:p>
          <a:p>
            <a:pPr>
              <a:spcAft>
                <a:spcPts val="800"/>
              </a:spcAft>
              <a:defRPr sz="1600" b="0">
                <a:solidFill>
                  <a:srgbClr val="1E293B"/>
                </a:solidFill>
                <a:latin typeface="Arial"/>
              </a:defRPr>
            </a:pPr>
            <a:r>
              <a:t>• Primary-seed rankings vary across seeds and objectives. Full seed results are retained; universal superiority is not established.</a:t>
            </a:r>
          </a:p>
        </p:txBody>
      </p:sp>
      <p:sp>
        <p:nvSpPr>
          <p:cNvPr id="7" name="TextBox 6"/>
          <p:cNvSpPr txBox="1"/>
          <p:nvPr/>
        </p:nvSpPr>
        <p:spPr>
          <a:xfrm>
            <a:off x="594360" y="6428232"/>
            <a:ext cx="10972800" cy="228600"/>
          </a:xfrm>
          <a:prstGeom prst="rect">
            <a:avLst/>
          </a:prstGeom>
          <a:noFill/>
        </p:spPr>
        <p:txBody>
          <a:bodyPr wrap="square">
            <a:spAutoFit/>
          </a:bodyPr>
          <a:lstStyle/>
          <a:p>
            <a:pPr>
              <a:spcAft>
                <a:spcPts val="800"/>
              </a:spcAft>
              <a:defRPr sz="1000" b="0">
                <a:solidFill>
                  <a:srgbClr val="64748B"/>
                </a:solidFill>
                <a:latin typeface="Arial"/>
              </a:defRPr>
            </a:pPr>
            <a:r>
              <a:t>Synthetic MU economics | Corrected v2 experiments | 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274320"/>
          </a:xfrm>
          <a:prstGeom prst="rect">
            <a:avLst/>
          </a:prstGeom>
          <a:noFill/>
        </p:spPr>
        <p:txBody>
          <a:bodyPr wrap="square">
            <a:spAutoFit/>
          </a:bodyPr>
          <a:lstStyle/>
          <a:p>
            <a:pPr>
              <a:spcAft>
                <a:spcPts val="800"/>
              </a:spcAft>
              <a:defRPr sz="1100" b="1">
                <a:solidFill>
                  <a:srgbClr val="0369A1"/>
                </a:solidFill>
                <a:latin typeface="Arial"/>
              </a:defRPr>
            </a:pPr>
            <a:r>
              <a:t>DECISION INTELLIGENCE / INTERVIEW RESEARCH PROTOTYPE</a:t>
            </a:r>
          </a:p>
        </p:txBody>
      </p:sp>
      <p:sp>
        <p:nvSpPr>
          <p:cNvPr id="3" name="TextBox 2"/>
          <p:cNvSpPr txBox="1"/>
          <p:nvPr/>
        </p:nvSpPr>
        <p:spPr>
          <a:xfrm>
            <a:off x="594360" y="822960"/>
            <a:ext cx="10972800" cy="594360"/>
          </a:xfrm>
          <a:prstGeom prst="rect">
            <a:avLst/>
          </a:prstGeom>
          <a:noFill/>
        </p:spPr>
        <p:txBody>
          <a:bodyPr wrap="square">
            <a:spAutoFit/>
          </a:bodyPr>
          <a:lstStyle/>
          <a:p>
            <a:pPr>
              <a:spcAft>
                <a:spcPts val="800"/>
              </a:spcAft>
              <a:defRPr sz="2800" b="1">
                <a:solidFill>
                  <a:srgbClr val="0F172A"/>
                </a:solidFill>
                <a:latin typeface="Arial"/>
              </a:defRPr>
            </a:pPr>
            <a:r>
              <a:t>A decision tool makes the trade-off visible</a:t>
            </a:r>
          </a:p>
        </p:txBody>
      </p:sp>
      <p:sp>
        <p:nvSpPr>
          <p:cNvPr id="4" name="TextBox 3"/>
          <p:cNvSpPr txBox="1"/>
          <p:nvPr/>
        </p:nvSpPr>
        <p:spPr>
          <a:xfrm>
            <a:off x="594360" y="1508760"/>
            <a:ext cx="10972800" cy="457200"/>
          </a:xfrm>
          <a:prstGeom prst="rect">
            <a:avLst/>
          </a:prstGeom>
          <a:noFill/>
        </p:spPr>
        <p:txBody>
          <a:bodyPr wrap="square">
            <a:spAutoFit/>
          </a:bodyPr>
          <a:lstStyle/>
          <a:p>
            <a:pPr>
              <a:spcAft>
                <a:spcPts val="800"/>
              </a:spcAft>
              <a:defRPr sz="1500" b="0">
                <a:solidFill>
                  <a:srgbClr val="475569"/>
                </a:solidFill>
                <a:latin typeface="Arial"/>
              </a:defRPr>
            </a:pPr>
            <a:r>
              <a:t>60-second local demonstration; cached models, fresh optimization</a:t>
            </a:r>
          </a:p>
        </p:txBody>
      </p:sp>
      <p:sp>
        <p:nvSpPr>
          <p:cNvPr id="5" name="TextBox 4"/>
          <p:cNvSpPr txBox="1"/>
          <p:nvPr/>
        </p:nvSpPr>
        <p:spPr>
          <a:xfrm>
            <a:off x="685800" y="2148840"/>
            <a:ext cx="10835640" cy="4206240"/>
          </a:xfrm>
          <a:prstGeom prst="rect">
            <a:avLst/>
          </a:prstGeom>
          <a:noFill/>
        </p:spPr>
        <p:txBody>
          <a:bodyPr wrap="square">
            <a:spAutoFit/>
          </a:bodyPr>
          <a:lstStyle/>
          <a:p>
            <a:pPr>
              <a:spcAft>
                <a:spcPts val="800"/>
              </a:spcAft>
              <a:defRPr sz="1900" b="0">
                <a:solidFill>
                  <a:srgbClr val="1E293B"/>
                </a:solidFill>
                <a:latin typeface="Arial"/>
              </a:defRPr>
            </a:pPr>
            <a:r>
              <a:t>• Page A: identify the M5-proxy badge, synthetic MU economics and chronological data split.</a:t>
            </a:r>
          </a:p>
          <a:p>
            <a:pPr>
              <a:spcAft>
                <a:spcPts val="800"/>
              </a:spcAft>
              <a:defRPr sz="1900" b="0">
                <a:solidFill>
                  <a:srgbClr val="1E293B"/>
                </a:solidFill>
                <a:latin typeface="Arial"/>
              </a:defRPr>
            </a:pPr>
            <a:r>
              <a:t>• Page C: inspect integer shipments, available supply, store capacity and expected shortage/excess.</a:t>
            </a:r>
          </a:p>
          <a:p>
            <a:pPr>
              <a:spcAft>
                <a:spcPts val="800"/>
              </a:spcAft>
              <a:defRPr sz="1900" b="0">
                <a:solidFill>
                  <a:srgbClr val="1E293B"/>
                </a:solidFill>
                <a:latin typeface="Arial"/>
              </a:defRPr>
            </a:pPr>
            <a:r>
              <a:t>• Page D: compare model expected cost, model CVaR and realized historical test cost as separate metrics.</a:t>
            </a:r>
          </a:p>
          <a:p>
            <a:pPr>
              <a:spcAft>
                <a:spcPts val="800"/>
              </a:spcAft>
              <a:defRPr sz="1900" b="0">
                <a:solidFill>
                  <a:srgbClr val="1E293B"/>
                </a:solidFill>
                <a:latin typeface="Arial"/>
              </a:defRPr>
            </a:pPr>
            <a:r>
              <a:t>• Change supply to 0.8 or demand uplift to +25%. Uplift is explicitly a synthetic intervention.</a:t>
            </a:r>
          </a:p>
          <a:p>
            <a:pPr>
              <a:spcAft>
                <a:spcPts val="800"/>
              </a:spcAft>
              <a:defRPr sz="1900" b="0">
                <a:solidFill>
                  <a:srgbClr val="1E293B"/>
                </a:solidFill>
                <a:latin typeface="Arial"/>
              </a:defRPr>
            </a:pPr>
            <a:r>
              <a:t>• Hard service mode meets a feasible target or separately establishes maximum achievable service. Soft mode permits a cost trade-off.</a:t>
            </a:r>
          </a:p>
          <a:p>
            <a:pPr>
              <a:spcAft>
                <a:spcPts val="800"/>
              </a:spcAft>
              <a:defRPr sz="1900" b="0">
                <a:solidFill>
                  <a:srgbClr val="1E293B"/>
                </a:solidFill>
                <a:latin typeface="Arial"/>
              </a:defRPr>
            </a:pPr>
            <a:r>
              <a:t>• Page E: show paired results and the baseline winner. Download CSVs; no training runs inside the UI.</a:t>
            </a:r>
          </a:p>
        </p:txBody>
      </p:sp>
      <p:sp>
        <p:nvSpPr>
          <p:cNvPr id="6" name="TextBox 5"/>
          <p:cNvSpPr txBox="1"/>
          <p:nvPr/>
        </p:nvSpPr>
        <p:spPr>
          <a:xfrm>
            <a:off x="594360" y="6428232"/>
            <a:ext cx="10972800" cy="228600"/>
          </a:xfrm>
          <a:prstGeom prst="rect">
            <a:avLst/>
          </a:prstGeom>
          <a:noFill/>
        </p:spPr>
        <p:txBody>
          <a:bodyPr wrap="square">
            <a:spAutoFit/>
          </a:bodyPr>
          <a:lstStyle/>
          <a:p>
            <a:pPr>
              <a:spcAft>
                <a:spcPts val="800"/>
              </a:spcAft>
              <a:defRPr sz="1000" b="0">
                <a:solidFill>
                  <a:srgbClr val="64748B"/>
                </a:solidFill>
                <a:latin typeface="Arial"/>
              </a:defRPr>
            </a:pPr>
            <a:r>
              <a:t>Synthetic MU economics | Corrected v2 experiments |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274320"/>
          </a:xfrm>
          <a:prstGeom prst="rect">
            <a:avLst/>
          </a:prstGeom>
          <a:noFill/>
        </p:spPr>
        <p:txBody>
          <a:bodyPr wrap="square">
            <a:spAutoFit/>
          </a:bodyPr>
          <a:lstStyle/>
          <a:p>
            <a:pPr>
              <a:spcAft>
                <a:spcPts val="800"/>
              </a:spcAft>
              <a:defRPr sz="1100" b="1">
                <a:solidFill>
                  <a:srgbClr val="0369A1"/>
                </a:solidFill>
                <a:latin typeface="Arial"/>
              </a:defRPr>
            </a:pPr>
            <a:r>
              <a:t>DECISION INTELLIGENCE / INTERVIEW RESEARCH PROTOTYPE</a:t>
            </a:r>
          </a:p>
        </p:txBody>
      </p:sp>
      <p:sp>
        <p:nvSpPr>
          <p:cNvPr id="3" name="TextBox 2"/>
          <p:cNvSpPr txBox="1"/>
          <p:nvPr/>
        </p:nvSpPr>
        <p:spPr>
          <a:xfrm>
            <a:off x="594360" y="822960"/>
            <a:ext cx="10972800" cy="594360"/>
          </a:xfrm>
          <a:prstGeom prst="rect">
            <a:avLst/>
          </a:prstGeom>
          <a:noFill/>
        </p:spPr>
        <p:txBody>
          <a:bodyPr wrap="square">
            <a:spAutoFit/>
          </a:bodyPr>
          <a:lstStyle/>
          <a:p>
            <a:pPr>
              <a:spcAft>
                <a:spcPts val="800"/>
              </a:spcAft>
              <a:defRPr sz="2800" b="1">
                <a:solidFill>
                  <a:srgbClr val="0F172A"/>
                </a:solidFill>
                <a:latin typeface="Arial"/>
              </a:defRPr>
            </a:pPr>
            <a:r>
              <a:t>Recommendation: validate before an operational pilot</a:t>
            </a:r>
          </a:p>
        </p:txBody>
      </p:sp>
      <p:sp>
        <p:nvSpPr>
          <p:cNvPr id="4" name="TextBox 3"/>
          <p:cNvSpPr txBox="1"/>
          <p:nvPr/>
        </p:nvSpPr>
        <p:spPr>
          <a:xfrm>
            <a:off x="594360" y="1508760"/>
            <a:ext cx="10972800" cy="457200"/>
          </a:xfrm>
          <a:prstGeom prst="rect">
            <a:avLst/>
          </a:prstGeom>
          <a:noFill/>
        </p:spPr>
        <p:txBody>
          <a:bodyPr wrap="square">
            <a:spAutoFit/>
          </a:bodyPr>
          <a:lstStyle/>
          <a:p>
            <a:pPr>
              <a:spcAft>
                <a:spcPts val="800"/>
              </a:spcAft>
              <a:defRPr sz="1500" b="0">
                <a:solidFill>
                  <a:srgbClr val="475569"/>
                </a:solidFill>
                <a:latin typeface="Arial"/>
              </a:defRPr>
            </a:pPr>
            <a:r>
              <a:t>A defensible result includes its limitations</a:t>
            </a:r>
          </a:p>
        </p:txBody>
      </p:sp>
      <p:sp>
        <p:nvSpPr>
          <p:cNvPr id="5" name="TextBox 4"/>
          <p:cNvSpPr txBox="1"/>
          <p:nvPr/>
        </p:nvSpPr>
        <p:spPr>
          <a:xfrm>
            <a:off x="685800" y="2148840"/>
            <a:ext cx="10835640" cy="4206240"/>
          </a:xfrm>
          <a:prstGeom prst="rect">
            <a:avLst/>
          </a:prstGeom>
          <a:noFill/>
        </p:spPr>
        <p:txBody>
          <a:bodyPr wrap="square">
            <a:spAutoFit/>
          </a:bodyPr>
          <a:lstStyle/>
          <a:p>
            <a:pPr>
              <a:spcAft>
                <a:spcPts val="800"/>
              </a:spcAft>
              <a:defRPr sz="1900" b="0">
                <a:solidFill>
                  <a:srgbClr val="1E293B"/>
                </a:solidFill>
                <a:latin typeface="Arial"/>
              </a:defRPr>
            </a:pPr>
            <a:r>
              <a:t>• Choose policy using the business objective and validation evidence; do not assume the most complex model wins.</a:t>
            </a:r>
          </a:p>
          <a:p>
            <a:pPr>
              <a:spcAft>
                <a:spcPts val="800"/>
              </a:spcAft>
              <a:defRPr sz="1900" b="0">
                <a:solidFill>
                  <a:srgbClr val="1E293B"/>
                </a:solidFill>
                <a:latin typeface="Arial"/>
              </a:defRPr>
            </a:pPr>
            <a:r>
              <a:t>• Limitations: sales censoring, synthetic economics, small selected cohorts, short test horizon and domain shift.</a:t>
            </a:r>
          </a:p>
          <a:p>
            <a:pPr>
              <a:spcAft>
                <a:spcPts val="800"/>
              </a:spcAft>
              <a:defRPr sz="1900" b="0">
                <a:solidFill>
                  <a:srgbClr val="1E293B"/>
                </a:solidFill>
                <a:latin typeface="Arial"/>
              </a:defRPr>
            </a:pPr>
            <a:r>
              <a:t>• Retrospective reruns do not create a fresh confirmatory holdout. Future evidence should include untouched periods.</a:t>
            </a:r>
          </a:p>
          <a:p>
            <a:pPr>
              <a:spcAft>
                <a:spcPts val="800"/>
              </a:spcAft>
              <a:defRPr sz="1900" b="0">
                <a:solidFill>
                  <a:srgbClr val="1E293B"/>
                </a:solidFill>
                <a:latin typeface="Arial"/>
              </a:defRPr>
            </a:pPr>
            <a:r>
              <a:t>• Next: obtain real stock and lead-time records, validate costs and case packs, then run a monitored planner-in-the-loop pilot.</a:t>
            </a:r>
          </a:p>
          <a:p>
            <a:pPr>
              <a:spcAft>
                <a:spcPts val="800"/>
              </a:spcAft>
              <a:defRPr sz="1900" b="0">
                <a:solidFill>
                  <a:srgbClr val="1E293B"/>
                </a:solidFill>
                <a:latin typeface="Arial"/>
              </a:defRPr>
            </a:pPr>
            <a:r>
              <a:t>• Demonstrated: a tested research workflow and offline prototype. Enterprise-wide scale and actual savings remain to be established.</a:t>
            </a:r>
          </a:p>
        </p:txBody>
      </p:sp>
      <p:sp>
        <p:nvSpPr>
          <p:cNvPr id="6" name="TextBox 5"/>
          <p:cNvSpPr txBox="1"/>
          <p:nvPr/>
        </p:nvSpPr>
        <p:spPr>
          <a:xfrm>
            <a:off x="594360" y="6428232"/>
            <a:ext cx="10972800" cy="228600"/>
          </a:xfrm>
          <a:prstGeom prst="rect">
            <a:avLst/>
          </a:prstGeom>
          <a:noFill/>
        </p:spPr>
        <p:txBody>
          <a:bodyPr wrap="square">
            <a:spAutoFit/>
          </a:bodyPr>
          <a:lstStyle/>
          <a:p>
            <a:pPr>
              <a:spcAft>
                <a:spcPts val="800"/>
              </a:spcAft>
              <a:defRPr sz="1000" b="0">
                <a:solidFill>
                  <a:srgbClr val="64748B"/>
                </a:solidFill>
                <a:latin typeface="Arial"/>
              </a:defRPr>
            </a:pPr>
            <a:r>
              <a:t>Synthetic MU economics | Corrected v2 experiments | 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