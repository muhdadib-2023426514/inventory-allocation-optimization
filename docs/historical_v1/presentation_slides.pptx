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interview panel. I am excited to present this end-to-end Decision Intelligence project tailored for MR.DIY.</a:t>
            </a:r>
          </a:p>
          <a:p/>
          <a:p>
            <a:r>
              <a:t>MR.DIY operates a massive network of over 1,200 retail stores across Malaysia and the region. In retail, inventory allocation is inherently asymmetric: losing a customer sale on a high-velocity Household item or DIY hardware tool costs 8 to 15 times more than the carrying cost of holding an extra unit on the shelf.</a:t>
            </a:r>
          </a:p>
          <a:p/>
          <a:p>
            <a:r>
              <a:t>Conventional forecasting systems focus purely on statistical accuracy like MAE or WAPE. But accurate forecasts do not guarantee profitable decisions. When central DC inventory is scarce, a forecast error at the margin leads to empty shelves at high-volume stores and excess inventory at slow stores.</a:t>
            </a:r>
          </a:p>
          <a:p/>
          <a:p>
            <a:r>
              <a:t>In this project, I demonstrate how combining Decision-Focused Learning (PyEPO SPO+) with Distributionally Robust Optimization (DRO) directly solves the allocation decision problem—reducing single-period M5 cost by -8.4% (-119.64 MU) vs Equal Allocation and reducing 12-week multi-period carryover cost (L=0) by -19.4% (-295.43 MU) vs Supervised PTO.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the three architectural paradigms implemented in this repository.</a:t>
            </a:r>
          </a:p>
          <a:p/>
          <a:p>
            <a:r>
              <a:t>On the left is conventional Forecast-Then-Optimize (PTO). The forecast model minimizes Negative Log-Likelihood or RMSE. It does not know whether an SKU is scarce or plentiful, or whether a stockout penalty is 10x holding cost. When passed into the solver, symmetric errors lead to asymmetric stockout penalties.</a:t>
            </a:r>
          </a:p>
          <a:p/>
          <a:p>
            <a:r>
              <a:t>In the center is our Decision-Focused Learning (DFL) pipeline. Using PyEPO's Smart Predict-then-Optimize (SPO+) loss, the PyTorch neural network is trained with the MILP in the gradient loop. We mathematically prove that total inventory cost is linear in binary marginal unit shipments y[s,k]. The model focuses its capacity on the exact survival probability thresholds that determine which store gets the next unit.</a:t>
            </a:r>
          </a:p>
          <a:p/>
          <a:p>
            <a:r>
              <a:t>On the right is our full DFL + DRO integration. The DFL model supplies calibrated marginal probabilities. We draw joint scenarios preserving cross-store correlation using an empirical copula. Then, we solve a probability-reweighted DRO MILP whose ambiguity set is proven equivalent to CVaR at confidence alpha=0.90. This protects MR.DIY against correlated demand surges during promotional or holiday weeks.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core scientific finding from our empirical M5 experiments: why decision-focused gradients outperform pure likelihood training under supply rationing.</a:t>
            </a:r>
          </a:p>
          <a:p/>
          <a:p>
            <a:r>
              <a:t>On our M5 validation ablation for HOUSEHOLD_1_055, increasing lambda_DFL from 0.0 (pure NLL) to 2.0 reduced validation decision regret by 25.9% (from 17.59 MU down to 13.04 MU). And in our out-of-sample 12-week multi-period carryover benchmark (L=0), dfl_dro cut total operating cost by 19.4% (1230.94 MU vs 1526.37 MU) and cut oracle regret by 55.0% (242.18 MU vs 537.60 MU) relative to supervised_pto!</a:t>
            </a:r>
          </a:p>
          <a:p/>
          <a:p>
            <a:r>
              <a:t>Why does this happen? Because in retail allocation, not all prediction errors are equal. If a store has 15 units of demand and 2 units of stock, predicting 10 vs 14 does not change the fact that the store desperately needs units. But predicting whether a store's demand is 2 vs 3 determines whether allocating that 3rd unit prevents a stockout or sits unsold.</a:t>
            </a:r>
          </a:p>
          <a:p/>
          <a:p>
            <a:r>
              <a:t>DFL gradients through PyEPO's SPO+ loss specifically penalize errors that flip the ranking between competing stores. Units that don't affect the active basis receive zero gradient.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senior Decision Intelligence professional must provide actionable business rules backed by exact empirical evidence. Slide 4 presents the Decision Policy Matrix derived from our M5 experiments.</a:t>
            </a:r>
          </a:p>
          <a:p/>
          <a:p>
            <a:r>
              <a:t>Regime A covers multi-period inventory carryover under scarce supply (m5_v1). Here, our integrated dfl_dro policy wins #1 at both L=0 (1230.94 MU, reducing cost by -19.4% vs supervised_pto at 1526.37 MU) and L=1 (1526.90 MU vs 1628.22 MU).</a:t>
            </a:r>
          </a:p>
          <a:p/>
          <a:p>
            <a:r>
              <a:t>Regime B covers intermittent, lumpy SKUs (m5_intermittent_v1, ADI &gt;= 1.35). On lumpy demand, trailing proportional allocation degrades to last place (176.94 MU, CVaR_0.90 = 274.42 MU), whereas supervised_dro (171.30 MU, CVaR_0.90 = 256.92 MU) and dfl_dro (172.59 MU, CVaR_0.90 = 254.54 MU) win #1 and #2.</a:t>
            </a:r>
          </a:p>
          <a:p/>
          <a:p>
            <a:r>
              <a:t>Regime C shows scientific candor on single-period steady staples (m5_v1 with I=0): trailing 8-week proportional allocation achieves 1298.91 MU mean cost vs 1312.70 MU for dfl_pto, while supervised_dro (1677.40 MU) and dfl_pto (1686.33 MU) reduce worst-week tail risk (CVaR_0.90) below proportional allocation (1711.69 MU).</a:t>
            </a:r>
          </a:p>
          <a:p/>
          <a:p>
            <a:r>
              <a:t>Finally, Regime D addresses executive service-level mandates: Our service-level constrained MILP explicitly proves whether warehouse inventory can physically satisfy the target fill rate, or reports the exact supply shortfall.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summarizes our rigorous empirical benchmarks.</a:t>
            </a:r>
          </a:p>
          <a:p/>
          <a:p>
            <a:r>
              <a:t>Look at the progression across the 7 policies on Walmart M5 Household sales data. Starting from naive Equal Allocation at 1432.35 MU, moving to Supervised PTO achieves 1322.76 MU. Supervised DRO cuts this to 1315.14 MU and lowers tail risk. Decision-Focused Learning reduces mean cost further to 1312.70 MU.</a:t>
            </a:r>
          </a:p>
          <a:p/>
          <a:p>
            <a:r>
              <a:t>Notice the Clairvoyant Oracle at 1020.15 MU. In 100% of origins, every policy has non-negative regret against the oracle, proving mathematical validity.</a:t>
            </a:r>
          </a:p>
          <a:p/>
          <a:p>
            <a:r>
              <a:t>Most impressively, look at the multi-period carryover simulation where leftover inventory carries over across weeks: At L=0, our integrated dfl_dro policy wins #1 at 1230.94 MU, beating supervised_pto by -19.4% (-295 MU)! At L=1 with replenishment lead time, dfl_dro again wins #1 at 1526.90 MU, beating supervised_pto by -6.2%!</a:t>
            </a:r>
          </a:p>
          <a:p/>
          <a:p>
            <a:r>
              <a:t>Furthermore, across 3 independent training seeds—42, 101, and 202—dfl_pto beat supervised_pto in 100% of runs, confirming that the performance advantage is stable and repeatable.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do we take this from a verified research prototype to production at MR.DIY? Slide 6 outlines a pragmatic, phased roadmap.</a:t>
            </a:r>
          </a:p>
          <a:p/>
          <a:p>
            <a:r>
              <a:t>In Stage 1, we deploy the system in 'shadow mode' alongside the current ERP. It ingests daily shipment cutoffs and audits data feeds for leakage with zero operational risk.</a:t>
            </a:r>
          </a:p>
          <a:p/>
          <a:p>
            <a:r>
              <a:t>In Stage 2, we launch a pilot on the top 200 high-margin Household SKUs using our Streamlit decision dashboard. Planners can review allocations, run what-if simulations, and override parameters.</a:t>
            </a:r>
          </a:p>
          <a:p/>
          <a:p>
            <a:r>
              <a:t>In Stage 3, we expand the single-SKU formulation to joint multi-SKU cubic capacity and pallet truckload constraints using sparse HiGHS MILPs.</a:t>
            </a:r>
          </a:p>
          <a:p/>
          <a:p>
            <a:r>
              <a:t>In Stage 4, we close the loop with direct WMS API order release, backed by automated regret drift monitoring, and measure actual operational savings in a controlled regional A/B pilot using real MR.DIY ERP inventory and cost data.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technical appendix, I provide the exact mathematical proofs and engineering specifications for the panel's review.</a:t>
            </a:r>
          </a:p>
          <a:p/>
          <a:p>
            <a:r>
              <a:t>Key highlights include: First, our linear marginal identity proving that incremental inventory decisions can be represented as binary variables y[s,k] with exact marginal cost coefficients. Second, the duality proof showing that the scenario-probability reweighting ambiguity set P_alpha is mathematically identical to Rockafellar and Uryasev's CVaR formulation.</a:t>
            </a:r>
          </a:p>
          <a:p/>
          <a:p>
            <a:r>
              <a:t>Third, our computational stack: The entire solution is open-source, running HiGHS via scipy.optimize.milp. Solving a 50-scenario DRO instance takes under 40 milliseconds on a standard CPU, ensuring that MR.DIY does not need costly Gurobi licenses or GPU clusters to achieve enterprise-grade decision intelligence.</a:t>
            </a:r>
          </a:p>
          <a:p/>
          <a:p>
            <a:r>
              <a:t>Thank you for your time and consideration. I would be delighted to take any questions on the mathematics, the code, or the business application.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371600"/>
            <a:ext cx="10058400" cy="3200400"/>
          </a:xfrm>
          <a:prstGeom prst="rect">
            <a:avLst/>
          </a:prstGeom>
          <a:noFill/>
        </p:spPr>
        <p:txBody>
          <a:bodyPr wrap="square">
            <a:spAutoFit/>
          </a:bodyPr>
          <a:lstStyle/>
          <a:p>
            <a:pPr>
              <a:spcAft>
                <a:spcPts val="1400"/>
              </a:spcAft>
              <a:defRPr sz="1200" b="1">
                <a:solidFill>
                  <a:srgbClr val="D97706"/>
                </a:solidFill>
              </a:defRPr>
            </a:pPr>
            <a:r>
              <a:t>MR.DIY INTERVIEW CASE STUDY — DATA SCIENTIST EXECUTIVE (DECISION INTELLIGENCE)</a:t>
            </a:r>
          </a:p>
          <a:p>
            <a:pPr>
              <a:spcAft>
                <a:spcPts val="1200"/>
              </a:spcAft>
              <a:defRPr sz="3600" b="1">
                <a:solidFill>
                  <a:srgbClr val="FFFFFF"/>
                </a:solidFill>
              </a:defRPr>
            </a:pPr>
            <a:r>
              <a:t>Decision-Focused &amp; Distributionally Robust</a:t>
            </a:r>
            <a:br/>
            <a:r>
              <a:t>Inventory Allocation</a:t>
            </a:r>
          </a:p>
          <a:p>
            <a:pPr>
              <a:defRPr sz="1800">
                <a:solidFill>
                  <a:srgbClr val="CBD5E1"/>
                </a:solidFill>
              </a:defRPr>
            </a:pPr>
            <a:r>
              <a:t>End-to-End Decision Intelligence Under Asymmetric Shortage Penalties &amp; Correlated Demand Surges</a:t>
            </a:r>
          </a:p>
        </p:txBody>
      </p:sp>
      <p:sp>
        <p:nvSpPr>
          <p:cNvPr id="4" name="Rounded Rectangle 3"/>
          <p:cNvSpPr/>
          <p:nvPr/>
        </p:nvSpPr>
        <p:spPr>
          <a:xfrm>
            <a:off x="1097280" y="4754880"/>
            <a:ext cx="3108960" cy="1463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4892040"/>
            <a:ext cx="2743200" cy="1188720"/>
          </a:xfrm>
          <a:prstGeom prst="rect">
            <a:avLst/>
          </a:prstGeom>
          <a:noFill/>
        </p:spPr>
        <p:txBody>
          <a:bodyPr wrap="square">
            <a:spAutoFit/>
          </a:bodyPr>
          <a:lstStyle/>
          <a:p>
            <a:pPr>
              <a:spcAft>
                <a:spcPts val="800"/>
              </a:spcAft>
              <a:defRPr sz="1400" b="1">
                <a:solidFill>
                  <a:srgbClr val="D97706"/>
                </a:solidFill>
              </a:defRPr>
            </a:pPr>
            <a:r>
              <a:t>Business Challenge</a:t>
            </a:r>
          </a:p>
          <a:p>
            <a:pPr>
              <a:spcAft>
                <a:spcPts val="400"/>
              </a:spcAft>
              <a:defRPr sz="1100">
                <a:solidFill>
                  <a:srgbClr val="1E293B"/>
                </a:solidFill>
              </a:defRPr>
            </a:pPr>
            <a:r>
              <a:t>• 1,200+ MR.DIY stores competing for central DC stock</a:t>
            </a:r>
          </a:p>
          <a:p>
            <a:pPr>
              <a:spcAft>
                <a:spcPts val="400"/>
              </a:spcAft>
              <a:defRPr sz="1100">
                <a:solidFill>
                  <a:srgbClr val="1E293B"/>
                </a:solidFill>
              </a:defRPr>
            </a:pPr>
            <a:r>
              <a:t>• Asymmetric cost: stockouts cost 8-15x holding cost</a:t>
            </a:r>
          </a:p>
          <a:p>
            <a:pPr>
              <a:spcAft>
                <a:spcPts val="400"/>
              </a:spcAft>
              <a:defRPr sz="1100">
                <a:solidFill>
                  <a:srgbClr val="1E293B"/>
                </a:solidFill>
              </a:defRPr>
            </a:pPr>
            <a:r>
              <a:t>• Severe warehouse scarcity (W &lt; sum D) during peak</a:t>
            </a:r>
          </a:p>
        </p:txBody>
      </p:sp>
      <p:sp>
        <p:nvSpPr>
          <p:cNvPr id="6" name="Rounded Rectangle 5"/>
          <p:cNvSpPr/>
          <p:nvPr/>
        </p:nvSpPr>
        <p:spPr>
          <a:xfrm>
            <a:off x="4480560" y="4754880"/>
            <a:ext cx="3108960" cy="1463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63440" y="4892040"/>
            <a:ext cx="2743200" cy="1188720"/>
          </a:xfrm>
          <a:prstGeom prst="rect">
            <a:avLst/>
          </a:prstGeom>
          <a:noFill/>
        </p:spPr>
        <p:txBody>
          <a:bodyPr wrap="square">
            <a:spAutoFit/>
          </a:bodyPr>
          <a:lstStyle/>
          <a:p>
            <a:pPr>
              <a:spcAft>
                <a:spcPts val="800"/>
              </a:spcAft>
              <a:defRPr sz="1400" b="1">
                <a:solidFill>
                  <a:srgbClr val="0284C7"/>
                </a:solidFill>
              </a:defRPr>
            </a:pPr>
            <a:r>
              <a:t>Technical Innovation</a:t>
            </a:r>
          </a:p>
          <a:p>
            <a:pPr>
              <a:spcAft>
                <a:spcPts val="400"/>
              </a:spcAft>
              <a:defRPr sz="1100">
                <a:solidFill>
                  <a:srgbClr val="1E293B"/>
                </a:solidFill>
              </a:defRPr>
            </a:pPr>
            <a:r>
              <a:t>• SPO+ surrogate loss for direct regret minimization</a:t>
            </a:r>
          </a:p>
          <a:p>
            <a:pPr>
              <a:spcAft>
                <a:spcPts val="400"/>
              </a:spcAft>
              <a:defRPr sz="1100">
                <a:solidFill>
                  <a:srgbClr val="1E293B"/>
                </a:solidFill>
              </a:defRPr>
            </a:pPr>
            <a:r>
              <a:t>• Explicit scenario-reweighting DRO (CVaR_alpha equivalence)</a:t>
            </a:r>
          </a:p>
          <a:p>
            <a:pPr>
              <a:spcAft>
                <a:spcPts val="400"/>
              </a:spcAft>
              <a:defRPr sz="1100">
                <a:solidFill>
                  <a:srgbClr val="1E293B"/>
                </a:solidFill>
              </a:defRPr>
            </a:pPr>
            <a:r>
              <a:t>• Zero-leakage rolling nonanticipative simulation</a:t>
            </a:r>
          </a:p>
        </p:txBody>
      </p:sp>
      <p:sp>
        <p:nvSpPr>
          <p:cNvPr id="8" name="Rounded Rectangle 7"/>
          <p:cNvSpPr/>
          <p:nvPr/>
        </p:nvSpPr>
        <p:spPr>
          <a:xfrm>
            <a:off x="7863840" y="4754880"/>
            <a:ext cx="3200400" cy="14630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4892040"/>
            <a:ext cx="2834640" cy="1188720"/>
          </a:xfrm>
          <a:prstGeom prst="rect">
            <a:avLst/>
          </a:prstGeom>
          <a:noFill/>
        </p:spPr>
        <p:txBody>
          <a:bodyPr wrap="square">
            <a:spAutoFit/>
          </a:bodyPr>
          <a:lstStyle/>
          <a:p>
            <a:pPr>
              <a:spcAft>
                <a:spcPts val="800"/>
              </a:spcAft>
              <a:defRPr sz="1400" b="1">
                <a:solidFill>
                  <a:srgbClr val="10B981"/>
                </a:solidFill>
              </a:defRPr>
            </a:pPr>
            <a:r>
              <a:t>Operational Proof</a:t>
            </a:r>
          </a:p>
          <a:p>
            <a:pPr>
              <a:spcAft>
                <a:spcPts val="400"/>
              </a:spcAft>
              <a:defRPr sz="1100">
                <a:solidFill>
                  <a:srgbClr val="1E293B"/>
                </a:solidFill>
              </a:defRPr>
            </a:pPr>
            <a:r>
              <a:t>• M5 Carryover (L=0): dfl_dro cuts cost by -19.4% (-295.43 MU) vs supervised_pto</a:t>
            </a:r>
          </a:p>
          <a:p>
            <a:pPr>
              <a:spcAft>
                <a:spcPts val="400"/>
              </a:spcAft>
              <a:defRPr sz="1100">
                <a:solidFill>
                  <a:srgbClr val="1E293B"/>
                </a:solidFill>
              </a:defRPr>
            </a:pPr>
            <a:r>
              <a:t>• HiGHS open-source MILP solves in &lt;40ms per cluster</a:t>
            </a:r>
          </a:p>
          <a:p>
            <a:pPr>
              <a:spcAft>
                <a:spcPts val="400"/>
              </a:spcAft>
              <a:defRPr sz="1100">
                <a:solidFill>
                  <a:srgbClr val="1E293B"/>
                </a:solidFill>
              </a:defRPr>
            </a:pPr>
            <a:r>
              <a:t>• Evaluated on real Walmart M5 Household sales proxy (m5_v1 &amp; m5_intermittent_v1)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spAutoFit/>
          </a:bodyPr>
          <a:lstStyle/>
          <a:p>
            <a:pPr>
              <a:defRPr sz="1000" b="1">
                <a:solidFill>
                  <a:srgbClr val="D97706"/>
                </a:solidFill>
              </a:defRPr>
            </a:pPr>
            <a:r>
              <a:t>MR.DIY DECISION INTELLIGENCE</a:t>
            </a:r>
          </a:p>
        </p:txBody>
      </p:sp>
      <p:sp>
        <p:nvSpPr>
          <p:cNvPr id="3" name="TextBox 2"/>
          <p:cNvSpPr txBox="1"/>
          <p:nvPr/>
        </p:nvSpPr>
        <p:spPr>
          <a:xfrm>
            <a:off x="731520" y="731520"/>
            <a:ext cx="10515600" cy="548640"/>
          </a:xfrm>
          <a:prstGeom prst="rect">
            <a:avLst/>
          </a:prstGeom>
          <a:noFill/>
        </p:spPr>
        <p:txBody>
          <a:bodyPr wrap="square">
            <a:spAutoFit/>
          </a:bodyPr>
          <a:lstStyle/>
          <a:p>
            <a:pPr>
              <a:defRPr sz="2200" b="1">
                <a:solidFill>
                  <a:srgbClr val="0F172A"/>
                </a:solidFill>
              </a:defRPr>
            </a:pPr>
            <a:r>
              <a:t>End-to-End System Architecture: PTO vs. DFL vs. DRO</a:t>
            </a:r>
          </a:p>
        </p:txBody>
      </p:sp>
      <p:sp>
        <p:nvSpPr>
          <p:cNvPr id="4" name="TextBox 3"/>
          <p:cNvSpPr txBox="1"/>
          <p:nvPr/>
        </p:nvSpPr>
        <p:spPr>
          <a:xfrm>
            <a:off x="731520" y="1280160"/>
            <a:ext cx="10515600" cy="365760"/>
          </a:xfrm>
          <a:prstGeom prst="rect">
            <a:avLst/>
          </a:prstGeom>
          <a:noFill/>
        </p:spPr>
        <p:txBody>
          <a:bodyPr wrap="square">
            <a:spAutoFit/>
          </a:bodyPr>
          <a:lstStyle/>
          <a:p>
            <a:pPr>
              <a:defRPr sz="1200">
                <a:solidFill>
                  <a:srgbClr val="64748B"/>
                </a:solidFill>
              </a:defRPr>
            </a:pPr>
            <a:r>
              <a:t>A mathematically rigorous progression from classical two-stage heuristics to integrated decision intelligence.</a:t>
            </a:r>
          </a:p>
        </p:txBody>
      </p:sp>
      <p:sp>
        <p:nvSpPr>
          <p:cNvPr id="5" name="Rounded Rectangle 4"/>
          <p:cNvSpPr/>
          <p:nvPr/>
        </p:nvSpPr>
        <p:spPr>
          <a:xfrm>
            <a:off x="731520" y="182880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2926080" cy="4114800"/>
          </a:xfrm>
          <a:prstGeom prst="rect">
            <a:avLst/>
          </a:prstGeom>
          <a:noFill/>
        </p:spPr>
        <p:txBody>
          <a:bodyPr wrap="square">
            <a:spAutoFit/>
          </a:bodyPr>
          <a:lstStyle/>
          <a:p>
            <a:pPr>
              <a:spcAft>
                <a:spcPts val="800"/>
              </a:spcAft>
              <a:defRPr sz="1400" b="1">
                <a:solidFill>
                  <a:srgbClr val="64748B"/>
                </a:solidFill>
              </a:defRPr>
            </a:pPr>
            <a:r>
              <a:t>1. Conventional PTO</a:t>
            </a:r>
          </a:p>
          <a:p>
            <a:pPr>
              <a:spcAft>
                <a:spcPts val="400"/>
              </a:spcAft>
              <a:defRPr sz="1100">
                <a:solidFill>
                  <a:srgbClr val="1E293B"/>
                </a:solidFill>
              </a:defRPr>
            </a:pPr>
            <a:r>
              <a:t>• Architecture: Forecast Model -&gt; Separate MILP.</a:t>
            </a:r>
          </a:p>
          <a:p>
            <a:pPr>
              <a:spcAft>
                <a:spcPts val="400"/>
              </a:spcAft>
              <a:defRPr sz="1100">
                <a:solidFill>
                  <a:srgbClr val="1E293B"/>
                </a:solidFill>
              </a:defRPr>
            </a:pPr>
            <a:r>
              <a:t>• Loss Function: Maximum Likelihood Estimation (NLL) / RMSE over historical sales.</a:t>
            </a:r>
          </a:p>
          <a:p>
            <a:pPr>
              <a:spcAft>
                <a:spcPts val="400"/>
              </a:spcAft>
              <a:defRPr sz="1100">
                <a:solidFill>
                  <a:srgbClr val="1E293B"/>
                </a:solidFill>
              </a:defRPr>
            </a:pPr>
            <a:r>
              <a:t>• Blind Spot: Treats positive and negative forecast errors symmetrically.</a:t>
            </a:r>
          </a:p>
          <a:p>
            <a:pPr>
              <a:spcAft>
                <a:spcPts val="400"/>
              </a:spcAft>
              <a:defRPr sz="1100">
                <a:solidFill>
                  <a:srgbClr val="1E293B"/>
                </a:solidFill>
              </a:defRPr>
            </a:pPr>
            <a:r>
              <a:t>• Failure Mode: Ignores store capacity bounds and warehouse rationing during training.</a:t>
            </a:r>
          </a:p>
          <a:p>
            <a:pPr>
              <a:spcAft>
                <a:spcPts val="400"/>
              </a:spcAft>
              <a:defRPr sz="1100">
                <a:solidFill>
                  <a:srgbClr val="1E293B"/>
                </a:solidFill>
              </a:defRPr>
            </a:pPr>
            <a:r>
              <a:t>• Result: High downstream regret when warehouse stock is insufficient.</a:t>
            </a:r>
          </a:p>
        </p:txBody>
      </p:sp>
      <p:sp>
        <p:nvSpPr>
          <p:cNvPr id="7" name="Rounded Rectangle 6"/>
          <p:cNvSpPr/>
          <p:nvPr/>
        </p:nvSpPr>
        <p:spPr>
          <a:xfrm>
            <a:off x="4389120" y="1828800"/>
            <a:ext cx="32918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1965960"/>
            <a:ext cx="2926080" cy="4114800"/>
          </a:xfrm>
          <a:prstGeom prst="rect">
            <a:avLst/>
          </a:prstGeom>
          <a:noFill/>
        </p:spPr>
        <p:txBody>
          <a:bodyPr wrap="square">
            <a:spAutoFit/>
          </a:bodyPr>
          <a:lstStyle/>
          <a:p>
            <a:pPr>
              <a:spcAft>
                <a:spcPts val="800"/>
              </a:spcAft>
              <a:defRPr sz="1400" b="1">
                <a:solidFill>
                  <a:srgbClr val="0284C7"/>
                </a:solidFill>
              </a:defRPr>
            </a:pPr>
            <a:r>
              <a:t>2. Decision-Focused (DFL)</a:t>
            </a:r>
          </a:p>
          <a:p>
            <a:pPr>
              <a:spcAft>
                <a:spcPts val="400"/>
              </a:spcAft>
              <a:defRPr sz="1100">
                <a:solidFill>
                  <a:srgbClr val="1E293B"/>
                </a:solidFill>
              </a:defRPr>
            </a:pPr>
            <a:r>
              <a:t>• Architecture: PyTorch PMF trained end-to-end via PyEPO SPO+ surrogate loss.</a:t>
            </a:r>
          </a:p>
          <a:p>
            <a:pPr>
              <a:spcAft>
                <a:spcPts val="400"/>
              </a:spcAft>
              <a:defRPr sz="1100">
                <a:solidFill>
                  <a:srgbClr val="1E293B"/>
                </a:solidFill>
              </a:defRPr>
            </a:pPr>
            <a:r>
              <a:t>• Decision Aware: Model parameters update against realized MILP allocation regret.</a:t>
            </a:r>
          </a:p>
          <a:p>
            <a:pPr>
              <a:spcAft>
                <a:spcPts val="400"/>
              </a:spcAft>
              <a:defRPr sz="1100">
                <a:solidFill>
                  <a:srgbClr val="1E293B"/>
                </a:solidFill>
              </a:defRPr>
            </a:pPr>
            <a:r>
              <a:t>• Marginal Focus: Focuses model capacity on critical k-th unit survival probabilities q[s,k].</a:t>
            </a:r>
          </a:p>
          <a:p>
            <a:pPr>
              <a:spcAft>
                <a:spcPts val="400"/>
              </a:spcAft>
              <a:defRPr sz="1100">
                <a:solidFill>
                  <a:srgbClr val="1E293B"/>
                </a:solidFill>
              </a:defRPr>
            </a:pPr>
            <a:r>
              <a:t>• Identity Verified: Realized cost C(x,d) = C(0,d) + sum c_true[s,k] * y[s,k].</a:t>
            </a:r>
          </a:p>
          <a:p>
            <a:pPr>
              <a:spcAft>
                <a:spcPts val="400"/>
              </a:spcAft>
              <a:defRPr sz="1100">
                <a:solidFill>
                  <a:srgbClr val="1E293B"/>
                </a:solidFill>
              </a:defRPr>
            </a:pPr>
            <a:r>
              <a:t>• Result (m5_v1): Cuts validation regret by -25.9% (HOUSEHOLD_1_055) and beats supervised_pto across all 3 seeds (1305.74 vs 1322.71 MU).</a:t>
            </a:r>
          </a:p>
        </p:txBody>
      </p:sp>
      <p:sp>
        <p:nvSpPr>
          <p:cNvPr id="9" name="Rounded Rectangle 8"/>
          <p:cNvSpPr/>
          <p:nvPr/>
        </p:nvSpPr>
        <p:spPr>
          <a:xfrm>
            <a:off x="8046720" y="1828800"/>
            <a:ext cx="33832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1965960"/>
            <a:ext cx="3017520" cy="4114800"/>
          </a:xfrm>
          <a:prstGeom prst="rect">
            <a:avLst/>
          </a:prstGeom>
          <a:noFill/>
        </p:spPr>
        <p:txBody>
          <a:bodyPr wrap="square">
            <a:spAutoFit/>
          </a:bodyPr>
          <a:lstStyle/>
          <a:p>
            <a:pPr>
              <a:spcAft>
                <a:spcPts val="800"/>
              </a:spcAft>
              <a:defRPr sz="1400" b="1">
                <a:solidFill>
                  <a:srgbClr val="10B981"/>
                </a:solidFill>
              </a:defRPr>
            </a:pPr>
            <a:r>
              <a:t>3. Integrated DFL + DRO</a:t>
            </a:r>
          </a:p>
          <a:p>
            <a:pPr>
              <a:spcAft>
                <a:spcPts val="400"/>
              </a:spcAft>
              <a:defRPr sz="1100">
                <a:solidFill>
                  <a:srgbClr val="1E293B"/>
                </a:solidFill>
              </a:defRPr>
            </a:pPr>
            <a:r>
              <a:t>• Architecture: DFL PMF -&gt; Empirical Copula -&gt; CVaR_alpha Ambiguity Set MILP.</a:t>
            </a:r>
          </a:p>
          <a:p>
            <a:pPr>
              <a:spcAft>
                <a:spcPts val="400"/>
              </a:spcAft>
              <a:defRPr sz="1100">
                <a:solidFill>
                  <a:srgbClr val="1E293B"/>
                </a:solidFill>
              </a:defRPr>
            </a:pPr>
            <a:r>
              <a:t>• Ambiguity Set: P_alpha = {w: sum w = 1, 0 &lt;= w_j &lt;= p_j/(1-alpha)}.</a:t>
            </a:r>
          </a:p>
          <a:p>
            <a:pPr>
              <a:spcAft>
                <a:spcPts val="400"/>
              </a:spcAft>
              <a:defRPr sz="1100">
                <a:solidFill>
                  <a:srgbClr val="1E293B"/>
                </a:solidFill>
              </a:defRPr>
            </a:pPr>
            <a:r>
              <a:t>• Mathematical Equivalence: Max expected loss over P_alpha equals exact CVaR_alpha.</a:t>
            </a:r>
          </a:p>
          <a:p>
            <a:pPr>
              <a:spcAft>
                <a:spcPts val="400"/>
              </a:spcAft>
              <a:defRPr sz="1100">
                <a:solidFill>
                  <a:srgbClr val="1E293B"/>
                </a:solidFill>
              </a:defRPr>
            </a:pPr>
            <a:r>
              <a:t>• Correlated Risk: Preserves cross-store rank shocks via empirical copula.</a:t>
            </a:r>
          </a:p>
          <a:p>
            <a:pPr>
              <a:spcAft>
                <a:spcPts val="400"/>
              </a:spcAft>
              <a:defRPr sz="1100">
                <a:solidFill>
                  <a:srgbClr val="1E293B"/>
                </a:solidFill>
              </a:defRPr>
            </a:pPr>
            <a:r>
              <a:t>• Result (m5_v1): Lowers single-period CVaR_0.90 by -18.86 MU (dfl_dro) and -30.72 MU (supervised_dro) vs supervised_pto.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spAutoFit/>
          </a:bodyPr>
          <a:lstStyle/>
          <a:p>
            <a:pPr>
              <a:defRPr sz="1000" b="1">
                <a:solidFill>
                  <a:srgbClr val="D97706"/>
                </a:solidFill>
              </a:defRPr>
            </a:pPr>
            <a:r>
              <a:t>MR.DIY DECISION INTELLIGENCE</a:t>
            </a:r>
          </a:p>
        </p:txBody>
      </p:sp>
      <p:sp>
        <p:nvSpPr>
          <p:cNvPr id="3" name="TextBox 2"/>
          <p:cNvSpPr txBox="1"/>
          <p:nvPr/>
        </p:nvSpPr>
        <p:spPr>
          <a:xfrm>
            <a:off x="731520" y="731520"/>
            <a:ext cx="10515600" cy="548640"/>
          </a:xfrm>
          <a:prstGeom prst="rect">
            <a:avLst/>
          </a:prstGeom>
          <a:noFill/>
        </p:spPr>
        <p:txBody>
          <a:bodyPr wrap="square">
            <a:spAutoFit/>
          </a:bodyPr>
          <a:lstStyle/>
          <a:p>
            <a:pPr>
              <a:defRPr sz="2200" b="1">
                <a:solidFill>
                  <a:srgbClr val="0F172A"/>
                </a:solidFill>
              </a:defRPr>
            </a:pPr>
            <a:r>
              <a:t>Deep Dive: The Supply Rationing Regret Paradox</a:t>
            </a:r>
          </a:p>
        </p:txBody>
      </p:sp>
      <p:sp>
        <p:nvSpPr>
          <p:cNvPr id="4" name="TextBox 3"/>
          <p:cNvSpPr txBox="1"/>
          <p:nvPr/>
        </p:nvSpPr>
        <p:spPr>
          <a:xfrm>
            <a:off x="731520" y="1280160"/>
            <a:ext cx="10515600" cy="365760"/>
          </a:xfrm>
          <a:prstGeom prst="rect">
            <a:avLst/>
          </a:prstGeom>
          <a:noFill/>
        </p:spPr>
        <p:txBody>
          <a:bodyPr wrap="square">
            <a:spAutoFit/>
          </a:bodyPr>
          <a:lstStyle/>
          <a:p>
            <a:pPr>
              <a:defRPr sz="1200">
                <a:solidFill>
                  <a:srgbClr val="64748B"/>
                </a:solidFill>
              </a:defRPr>
            </a:pPr>
            <a:r>
              <a:t>Why superior forecast accuracy fails in scarce retail networks—and how decision-focused gradients fix it.</a:t>
            </a:r>
          </a:p>
        </p:txBody>
      </p:sp>
      <p:sp>
        <p:nvSpPr>
          <p:cNvPr id="5" name="Rounded Rectangle 4"/>
          <p:cNvSpPr/>
          <p:nvPr/>
        </p:nvSpPr>
        <p:spPr>
          <a:xfrm>
            <a:off x="731520" y="182880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754880" cy="4114800"/>
          </a:xfrm>
          <a:prstGeom prst="rect">
            <a:avLst/>
          </a:prstGeom>
          <a:noFill/>
        </p:spPr>
        <p:txBody>
          <a:bodyPr wrap="square">
            <a:spAutoFit/>
          </a:bodyPr>
          <a:lstStyle/>
          <a:p>
            <a:pPr>
              <a:spcAft>
                <a:spcPts val="800"/>
              </a:spcAft>
              <a:defRPr sz="1400" b="1">
                <a:solidFill>
                  <a:srgbClr val="D97706"/>
                </a:solidFill>
              </a:defRPr>
            </a:pPr>
            <a:r>
              <a:t>The Finding: Forecast MAE vs. Decision Regret</a:t>
            </a:r>
          </a:p>
          <a:p>
            <a:pPr>
              <a:spcAft>
                <a:spcPts val="400"/>
              </a:spcAft>
              <a:defRPr sz="1100">
                <a:solidFill>
                  <a:srgbClr val="1E293B"/>
                </a:solidFill>
              </a:defRPr>
            </a:pPr>
            <a:r>
              <a:t>• Validation Ablation (HOUSEHOLD_1_055): Pure NLL (lambda_DFL=0) gives 17.59 MU regret (WAPE 28.5%); SPO+ (lambda_DFL=2.0) cuts regret by -25.9% to 13.04 MU.</a:t>
            </a:r>
          </a:p>
          <a:p>
            <a:pPr>
              <a:spcAft>
                <a:spcPts val="400"/>
              </a:spcAft>
              <a:defRPr sz="1100">
                <a:solidFill>
                  <a:srgbClr val="1E293B"/>
                </a:solidFill>
              </a:defRPr>
            </a:pPr>
            <a:r>
              <a:t>• Out-of-Sample Carryover (L=0 on M5): dfl_dro achieves 19.4% lower cost (1230.94 vs 1526.37 MU) and 55.0% lower regret (242.18 vs 537.60 MU) than supervised_pto.</a:t>
            </a:r>
          </a:p>
          <a:p>
            <a:pPr>
              <a:spcAft>
                <a:spcPts val="400"/>
              </a:spcAft>
              <a:defRPr sz="1100">
                <a:solidFill>
                  <a:srgbClr val="1E293B"/>
                </a:solidFill>
              </a:defRPr>
            </a:pPr>
            <a:r>
              <a:t>• The Mechanism: Symmetric loss functions waste model capacity fitting bulk mean demand rather than binding allocation cutoffs.</a:t>
            </a:r>
          </a:p>
          <a:p>
            <a:pPr>
              <a:spcAft>
                <a:spcPts val="400"/>
              </a:spcAft>
              <a:defRPr sz="1100">
                <a:solidFill>
                  <a:srgbClr val="1E293B"/>
                </a:solidFill>
              </a:defRPr>
            </a:pPr>
            <a:r>
              <a:t>• In contrast, the allocation solver only cares whether demand exceeds current stock plus allocation: D &gt;= I_s + k.</a:t>
            </a:r>
          </a:p>
          <a:p>
            <a:pPr>
              <a:spcAft>
                <a:spcPts val="400"/>
              </a:spcAft>
              <a:defRPr sz="1100">
                <a:solidFill>
                  <a:srgbClr val="1E293B"/>
                </a:solidFill>
              </a:defRPr>
            </a:pPr>
            <a:r>
              <a:t>• Result: Decision-aware training directly targets the store-SKU margin where scarce supply is rationed.</a:t>
            </a:r>
          </a:p>
        </p:txBody>
      </p:sp>
      <p:sp>
        <p:nvSpPr>
          <p:cNvPr id="7" name="Rounded Rectangle 6"/>
          <p:cNvSpPr/>
          <p:nvPr/>
        </p:nvSpPr>
        <p:spPr>
          <a:xfrm>
            <a:off x="6217920" y="182880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65960"/>
            <a:ext cx="4846320" cy="4114800"/>
          </a:xfrm>
          <a:prstGeom prst="rect">
            <a:avLst/>
          </a:prstGeom>
          <a:noFill/>
        </p:spPr>
        <p:txBody>
          <a:bodyPr wrap="square">
            <a:spAutoFit/>
          </a:bodyPr>
          <a:lstStyle/>
          <a:p>
            <a:pPr>
              <a:spcAft>
                <a:spcPts val="800"/>
              </a:spcAft>
              <a:defRPr sz="1400" b="1">
                <a:solidFill>
                  <a:srgbClr val="0284C7"/>
                </a:solidFill>
              </a:defRPr>
            </a:pPr>
            <a:r>
              <a:t>Mathematical Mechanism: Marginal Cost Alignment</a:t>
            </a:r>
          </a:p>
          <a:p>
            <a:pPr>
              <a:spcAft>
                <a:spcPts val="400"/>
              </a:spcAft>
              <a:defRPr sz="1100">
                <a:solidFill>
                  <a:srgbClr val="1E293B"/>
                </a:solidFill>
              </a:defRPr>
            </a:pPr>
            <a:r>
              <a:t>• Marginal Survival Identity: c_hat[s,k] = t_s + h_s - (b_s + h_s) * P(D_s &gt;= I_s + k).</a:t>
            </a:r>
          </a:p>
          <a:p>
            <a:pPr>
              <a:spcAft>
                <a:spcPts val="400"/>
              </a:spcAft>
              <a:defRPr sz="1100">
                <a:solidFill>
                  <a:srgbClr val="1E293B"/>
                </a:solidFill>
              </a:defRPr>
            </a:pPr>
            <a:r>
              <a:t>• SPO+ Surrogate Loss: L_SPO+(c_hat, c_true) = max_w {(c_true - 2 c_hat)^T w} + 2 c_hat^T w* - c_true^T w*.</a:t>
            </a:r>
          </a:p>
          <a:p>
            <a:pPr>
              <a:spcAft>
                <a:spcPts val="400"/>
              </a:spcAft>
              <a:defRPr sz="1100">
                <a:solidFill>
                  <a:srgbClr val="1E293B"/>
                </a:solidFill>
              </a:defRPr>
            </a:pPr>
            <a:r>
              <a:t>• Non-Zero Gradient Condition: Gradients flow ONLY through marginal unit thresholds that alter the active basis.</a:t>
            </a:r>
          </a:p>
          <a:p>
            <a:pPr>
              <a:spcAft>
                <a:spcPts val="400"/>
              </a:spcAft>
              <a:defRPr sz="1100">
                <a:solidFill>
                  <a:srgbClr val="1E293B"/>
                </a:solidFill>
              </a:defRPr>
            </a:pPr>
            <a:r>
              <a:t>• Subgradient Smoke Test: Verified finite, non-zero gradients (grad norm = 7.7972 / 0.1419) updating weights toward optimal basis.</a:t>
            </a:r>
          </a:p>
          <a:p>
            <a:pPr>
              <a:spcAft>
                <a:spcPts val="400"/>
              </a:spcAft>
              <a:defRPr sz="1100">
                <a:solidFill>
                  <a:srgbClr val="1E293B"/>
                </a:solidFill>
              </a:defRPr>
            </a:pPr>
            <a:r>
              <a:t>• Hybrid Loss Balance: L_total = L_NLL + lambda_DFL * L_SPO+ guarantees both distribution calibration and decision optimality.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spAutoFit/>
          </a:bodyPr>
          <a:lstStyle/>
          <a:p>
            <a:pPr>
              <a:defRPr sz="1000" b="1">
                <a:solidFill>
                  <a:srgbClr val="D97706"/>
                </a:solidFill>
              </a:defRPr>
            </a:pPr>
            <a:r>
              <a:t>MR.DIY DECISION INTELLIGENCE</a:t>
            </a:r>
          </a:p>
        </p:txBody>
      </p:sp>
      <p:sp>
        <p:nvSpPr>
          <p:cNvPr id="3" name="TextBox 2"/>
          <p:cNvSpPr txBox="1"/>
          <p:nvPr/>
        </p:nvSpPr>
        <p:spPr>
          <a:xfrm>
            <a:off x="731520" y="731520"/>
            <a:ext cx="10515600" cy="548640"/>
          </a:xfrm>
          <a:prstGeom prst="rect">
            <a:avLst/>
          </a:prstGeom>
          <a:noFill/>
        </p:spPr>
        <p:txBody>
          <a:bodyPr wrap="square">
            <a:spAutoFit/>
          </a:bodyPr>
          <a:lstStyle/>
          <a:p>
            <a:pPr>
              <a:defRPr sz="2200" b="1">
                <a:solidFill>
                  <a:srgbClr val="0F172A"/>
                </a:solidFill>
              </a:defRPr>
            </a:pPr>
            <a:r>
              <a:t>Retail Decision Policy Matrix for Category Managers</a:t>
            </a:r>
          </a:p>
        </p:txBody>
      </p:sp>
      <p:sp>
        <p:nvSpPr>
          <p:cNvPr id="4" name="TextBox 3"/>
          <p:cNvSpPr txBox="1"/>
          <p:nvPr/>
        </p:nvSpPr>
        <p:spPr>
          <a:xfrm>
            <a:off x="731520" y="1280160"/>
            <a:ext cx="10515600" cy="365760"/>
          </a:xfrm>
          <a:prstGeom prst="rect">
            <a:avLst/>
          </a:prstGeom>
          <a:noFill/>
        </p:spPr>
        <p:txBody>
          <a:bodyPr wrap="square">
            <a:spAutoFit/>
          </a:bodyPr>
          <a:lstStyle/>
          <a:p>
            <a:pPr>
              <a:defRPr sz="1200">
                <a:solidFill>
                  <a:srgbClr val="64748B"/>
                </a:solidFill>
              </a:defRPr>
            </a:pPr>
            <a:r>
              <a:t>Rule-based dispatch framework translating empirical optimization benchmarks into operational guidelines.</a:t>
            </a:r>
          </a:p>
        </p:txBody>
      </p:sp>
      <p:sp>
        <p:nvSpPr>
          <p:cNvPr id="5" name="Rounded Rectangle 4"/>
          <p:cNvSpPr/>
          <p:nvPr/>
        </p:nvSpPr>
        <p:spPr>
          <a:xfrm>
            <a:off x="731520" y="1828800"/>
            <a:ext cx="512064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754880" cy="1828800"/>
          </a:xfrm>
          <a:prstGeom prst="rect">
            <a:avLst/>
          </a:prstGeom>
          <a:noFill/>
        </p:spPr>
        <p:txBody>
          <a:bodyPr wrap="square">
            <a:spAutoFit/>
          </a:bodyPr>
          <a:lstStyle/>
          <a:p>
            <a:pPr>
              <a:spcAft>
                <a:spcPts val="800"/>
              </a:spcAft>
              <a:defRPr sz="1400" b="1">
                <a:solidFill>
                  <a:srgbClr val="10B981"/>
                </a:solidFill>
              </a:defRPr>
            </a:pPr>
            <a:r>
              <a:t>Regime A: Multi-Period Carryover &amp; Scarce Supply</a:t>
            </a:r>
          </a:p>
          <a:p>
            <a:pPr>
              <a:spcAft>
                <a:spcPts val="400"/>
              </a:spcAft>
              <a:defRPr sz="1100">
                <a:solidFill>
                  <a:srgbClr val="1E293B"/>
                </a:solidFill>
              </a:defRPr>
            </a:pPr>
            <a:r>
              <a:t>• Condition: Regular Household SKUs (m5_v1) with rolling carryover (L=0 &amp; L=1).</a:t>
            </a:r>
          </a:p>
          <a:p>
            <a:pPr>
              <a:spcAft>
                <a:spcPts val="400"/>
              </a:spcAft>
              <a:defRPr sz="1100">
                <a:solidFill>
                  <a:srgbClr val="1E293B"/>
                </a:solidFill>
              </a:defRPr>
            </a:pPr>
            <a:r>
              <a:t>• Policy: dfl_dro (Integrated DFL + Scenario DRO).</a:t>
            </a:r>
          </a:p>
          <a:p>
            <a:pPr>
              <a:spcAft>
                <a:spcPts val="400"/>
              </a:spcAft>
              <a:defRPr sz="1100">
                <a:solidFill>
                  <a:srgbClr val="1E293B"/>
                </a:solidFill>
              </a:defRPr>
            </a:pPr>
            <a:r>
              <a:t>• Observed Evidence: #1 at L=0 (1230.94 MU, -19.4% vs supervised_pto 1526.37 MU) and #1 at L=1 (1526.90 MU vs 1628.22 MU).</a:t>
            </a:r>
          </a:p>
        </p:txBody>
      </p:sp>
      <p:sp>
        <p:nvSpPr>
          <p:cNvPr id="7" name="Rounded Rectangle 6"/>
          <p:cNvSpPr/>
          <p:nvPr/>
        </p:nvSpPr>
        <p:spPr>
          <a:xfrm>
            <a:off x="6217920" y="1828800"/>
            <a:ext cx="521208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65960"/>
            <a:ext cx="4846320" cy="1828800"/>
          </a:xfrm>
          <a:prstGeom prst="rect">
            <a:avLst/>
          </a:prstGeom>
          <a:noFill/>
        </p:spPr>
        <p:txBody>
          <a:bodyPr wrap="square">
            <a:spAutoFit/>
          </a:bodyPr>
          <a:lstStyle/>
          <a:p>
            <a:pPr>
              <a:spcAft>
                <a:spcPts val="800"/>
              </a:spcAft>
              <a:defRPr sz="1400" b="1">
                <a:solidFill>
                  <a:srgbClr val="0284C7"/>
                </a:solidFill>
              </a:defRPr>
            </a:pPr>
            <a:r>
              <a:t>Regime B: Intermittent / Lumpy Hardware</a:t>
            </a:r>
          </a:p>
          <a:p>
            <a:pPr>
              <a:spcAft>
                <a:spcPts val="400"/>
              </a:spcAft>
              <a:defRPr sz="1100">
                <a:solidFill>
                  <a:srgbClr val="1E293B"/>
                </a:solidFill>
              </a:defRPr>
            </a:pPr>
            <a:r>
              <a:t>• Condition: Slow-moving lumpy SKUs (m5_intermittent_v1, ADI &gt;= 1.35).</a:t>
            </a:r>
          </a:p>
          <a:p>
            <a:pPr>
              <a:spcAft>
                <a:spcPts val="400"/>
              </a:spcAft>
              <a:defRPr sz="1100">
                <a:solidFill>
                  <a:srgbClr val="1E293B"/>
                </a:solidFill>
              </a:defRPr>
            </a:pPr>
            <a:r>
              <a:t>• Policy: supervised_dro &amp; dfl_dro.</a:t>
            </a:r>
          </a:p>
          <a:p>
            <a:pPr>
              <a:spcAft>
                <a:spcPts val="400"/>
              </a:spcAft>
              <a:defRPr sz="1100">
                <a:solidFill>
                  <a:srgbClr val="1E293B"/>
                </a:solidFill>
              </a:defRPr>
            </a:pPr>
            <a:r>
              <a:t>• Observed Evidence: #1 and #2 single-period cost (171.30 &amp; 172.59 MU vs 176.94 MU proportional; CVaR_0.90 256.92 &amp; 254.54 vs 274.42 MU).</a:t>
            </a:r>
          </a:p>
        </p:txBody>
      </p:sp>
      <p:sp>
        <p:nvSpPr>
          <p:cNvPr id="9" name="Rounded Rectangle 8"/>
          <p:cNvSpPr/>
          <p:nvPr/>
        </p:nvSpPr>
        <p:spPr>
          <a:xfrm>
            <a:off x="731520" y="4114800"/>
            <a:ext cx="512064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51960"/>
            <a:ext cx="4754880" cy="1828800"/>
          </a:xfrm>
          <a:prstGeom prst="rect">
            <a:avLst/>
          </a:prstGeom>
          <a:noFill/>
        </p:spPr>
        <p:txBody>
          <a:bodyPr wrap="square">
            <a:spAutoFit/>
          </a:bodyPr>
          <a:lstStyle/>
          <a:p>
            <a:pPr>
              <a:spcAft>
                <a:spcPts val="800"/>
              </a:spcAft>
              <a:defRPr sz="1400" b="1">
                <a:solidFill>
                  <a:srgbClr val="64748B"/>
                </a:solidFill>
              </a:defRPr>
            </a:pPr>
            <a:r>
              <a:t>Regime C: Single-Period Steady Staples</a:t>
            </a:r>
          </a:p>
          <a:p>
            <a:pPr>
              <a:spcAft>
                <a:spcPts val="400"/>
              </a:spcAft>
              <a:defRPr sz="1100">
                <a:solidFill>
                  <a:srgbClr val="1E293B"/>
                </a:solidFill>
              </a:defRPr>
            </a:pPr>
            <a:r>
              <a:t>• Condition: Regular single-period snapshot (I=0) with steady trailing sales.</a:t>
            </a:r>
          </a:p>
          <a:p>
            <a:pPr>
              <a:spcAft>
                <a:spcPts val="400"/>
              </a:spcAft>
              <a:defRPr sz="1100">
                <a:solidFill>
                  <a:srgbClr val="1E293B"/>
                </a:solidFill>
              </a:defRPr>
            </a:pPr>
            <a:r>
              <a:t>• Policy: dfl_pto (1312.70 MU) / proportional_allocation (1298.91 MU).</a:t>
            </a:r>
          </a:p>
          <a:p>
            <a:pPr>
              <a:spcAft>
                <a:spcPts val="400"/>
              </a:spcAft>
              <a:defRPr sz="1100">
                <a:solidFill>
                  <a:srgbClr val="1E293B"/>
                </a:solidFill>
              </a:defRPr>
            </a:pPr>
            <a:r>
              <a:t>• Observed Evidence: Proportional achieves lowest mean cost on steady staples, while supervised_dro (1677.40 MU) &amp; dfl_pto (1686.33 MU) beat it on CVaR_0.90 (1711.69 MU).</a:t>
            </a:r>
          </a:p>
        </p:txBody>
      </p:sp>
      <p:sp>
        <p:nvSpPr>
          <p:cNvPr id="11" name="Rounded Rectangle 10"/>
          <p:cNvSpPr/>
          <p:nvPr/>
        </p:nvSpPr>
        <p:spPr>
          <a:xfrm>
            <a:off x="6217920" y="4114800"/>
            <a:ext cx="521208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51960"/>
            <a:ext cx="4846320" cy="1828800"/>
          </a:xfrm>
          <a:prstGeom prst="rect">
            <a:avLst/>
          </a:prstGeom>
          <a:noFill/>
        </p:spPr>
        <p:txBody>
          <a:bodyPr wrap="square">
            <a:spAutoFit/>
          </a:bodyPr>
          <a:lstStyle/>
          <a:p>
            <a:pPr>
              <a:spcAft>
                <a:spcPts val="800"/>
              </a:spcAft>
              <a:defRPr sz="1400" b="1">
                <a:solidFill>
                  <a:srgbClr val="D97706"/>
                </a:solidFill>
              </a:defRPr>
            </a:pPr>
            <a:r>
              <a:t>Regime D: Non-Negotiable Availability</a:t>
            </a:r>
          </a:p>
          <a:p>
            <a:pPr>
              <a:spcAft>
                <a:spcPts val="400"/>
              </a:spcAft>
              <a:defRPr sz="1100">
                <a:solidFill>
                  <a:srgbClr val="1E293B"/>
                </a:solidFill>
              </a:defRPr>
            </a:pPr>
            <a:r>
              <a:t>• Condition: Promotional hero items, target fill rate beta* &gt;= 95%.</a:t>
            </a:r>
          </a:p>
          <a:p>
            <a:pPr>
              <a:spcAft>
                <a:spcPts val="400"/>
              </a:spcAft>
              <a:defRPr sz="1100">
                <a:solidFill>
                  <a:srgbClr val="1E293B"/>
                </a:solidFill>
              </a:defRPr>
            </a:pPr>
            <a:r>
              <a:t>• Policy: service_level_milp (Service-Constrained Allocation).</a:t>
            </a:r>
          </a:p>
          <a:p>
            <a:pPr>
              <a:spcAft>
                <a:spcPts val="400"/>
              </a:spcAft>
              <a:defRPr sz="1100">
                <a:solidFill>
                  <a:srgbClr val="1E293B"/>
                </a:solidFill>
              </a:defRPr>
            </a:pPr>
            <a:r>
              <a:t>• Impact: Proves physical supply sufficiency; calculates exact stock deficit.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spAutoFit/>
          </a:bodyPr>
          <a:lstStyle/>
          <a:p>
            <a:pPr>
              <a:defRPr sz="1000" b="1">
                <a:solidFill>
                  <a:srgbClr val="D97706"/>
                </a:solidFill>
              </a:defRPr>
            </a:pPr>
            <a:r>
              <a:t>MR.DIY DECISION INTELLIGENCE</a:t>
            </a:r>
          </a:p>
        </p:txBody>
      </p:sp>
      <p:sp>
        <p:nvSpPr>
          <p:cNvPr id="3" name="TextBox 2"/>
          <p:cNvSpPr txBox="1"/>
          <p:nvPr/>
        </p:nvSpPr>
        <p:spPr>
          <a:xfrm>
            <a:off x="731520" y="731520"/>
            <a:ext cx="10515600" cy="548640"/>
          </a:xfrm>
          <a:prstGeom prst="rect">
            <a:avLst/>
          </a:prstGeom>
          <a:noFill/>
        </p:spPr>
        <p:txBody>
          <a:bodyPr wrap="square">
            <a:spAutoFit/>
          </a:bodyPr>
          <a:lstStyle/>
          <a:p>
            <a:pPr>
              <a:defRPr sz="2200" b="1">
                <a:solidFill>
                  <a:srgbClr val="0F172A"/>
                </a:solidFill>
              </a:defRPr>
            </a:pPr>
            <a:r>
              <a:t>Empirical Benchmark: 7-Policy Evaluation &amp; Reliability</a:t>
            </a:r>
          </a:p>
        </p:txBody>
      </p:sp>
      <p:sp>
        <p:nvSpPr>
          <p:cNvPr id="4" name="TextBox 3"/>
          <p:cNvSpPr txBox="1"/>
          <p:nvPr/>
        </p:nvSpPr>
        <p:spPr>
          <a:xfrm>
            <a:off x="731520" y="1280160"/>
            <a:ext cx="10515600" cy="365760"/>
          </a:xfrm>
          <a:prstGeom prst="rect">
            <a:avLst/>
          </a:prstGeom>
          <a:noFill/>
        </p:spPr>
        <p:txBody>
          <a:bodyPr wrap="square">
            <a:spAutoFit/>
          </a:bodyPr>
          <a:lstStyle/>
          <a:p>
            <a:pPr>
              <a:defRPr sz="1200">
                <a:solidFill>
                  <a:srgbClr val="64748B"/>
                </a:solidFill>
              </a:defRPr>
            </a:pPr>
            <a:r>
              <a:t>Apples-to-apples out-of-sample backtest across 12 held-out origins with 3 independent random seeds.</a:t>
            </a:r>
          </a:p>
        </p:txBody>
      </p:sp>
      <p:sp>
        <p:nvSpPr>
          <p:cNvPr id="5" name="Rounded Rectangle 4"/>
          <p:cNvSpPr/>
          <p:nvPr/>
        </p:nvSpPr>
        <p:spPr>
          <a:xfrm>
            <a:off x="731520" y="182880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754880" cy="4114800"/>
          </a:xfrm>
          <a:prstGeom prst="rect">
            <a:avLst/>
          </a:prstGeom>
          <a:noFill/>
        </p:spPr>
        <p:txBody>
          <a:bodyPr wrap="square">
            <a:spAutoFit/>
          </a:bodyPr>
          <a:lstStyle/>
          <a:p>
            <a:pPr>
              <a:spcAft>
                <a:spcPts val="800"/>
              </a:spcAft>
              <a:defRPr sz="1400" b="1">
                <a:solidFill>
                  <a:srgbClr val="10B981"/>
                </a:solidFill>
              </a:defRPr>
            </a:pPr>
            <a:r>
              <a:t>Benchmark Summary Table (M5 Household Cohort)</a:t>
            </a:r>
          </a:p>
          <a:p>
            <a:pPr>
              <a:spcAft>
                <a:spcPts val="400"/>
              </a:spcAft>
              <a:defRPr sz="1100">
                <a:solidFill>
                  <a:srgbClr val="1E293B"/>
                </a:solidFill>
              </a:defRPr>
            </a:pPr>
            <a:r>
              <a:t>• Equal Allocation: Mean Cost = 1432.35 MU | CVaR90 = 1843.00 MU | Fill Rate = 71.2%</a:t>
            </a:r>
          </a:p>
          <a:p>
            <a:pPr>
              <a:spcAft>
                <a:spcPts val="400"/>
              </a:spcAft>
              <a:defRPr sz="1100">
                <a:solidFill>
                  <a:srgbClr val="1E293B"/>
                </a:solidFill>
              </a:defRPr>
            </a:pPr>
            <a:r>
              <a:t>• Proportional Allocation: Mean Cost = 1298.91 MU | CVaR90 = 1711.69 MU | Fill Rate = 73.9%</a:t>
            </a:r>
          </a:p>
          <a:p>
            <a:pPr>
              <a:spcAft>
                <a:spcPts val="400"/>
              </a:spcAft>
              <a:defRPr sz="1100">
                <a:solidFill>
                  <a:srgbClr val="1E293B"/>
                </a:solidFill>
              </a:defRPr>
            </a:pPr>
            <a:r>
              <a:t>• Supervised PTO: Mean Cost = 1322.76 MU | CVaR90 = 1708.12 MU | Fill Rate = 73.5%</a:t>
            </a:r>
          </a:p>
          <a:p>
            <a:pPr>
              <a:spcAft>
                <a:spcPts val="400"/>
              </a:spcAft>
              <a:defRPr sz="1100">
                <a:solidFill>
                  <a:srgbClr val="1E293B"/>
                </a:solidFill>
              </a:defRPr>
            </a:pPr>
            <a:r>
              <a:t>• Supervised DRO (alpha=0.90): Mean Cost = 1315.14 MU | CVaR90 = 1677.40 MU | Fill Rate = 73.6%</a:t>
            </a:r>
          </a:p>
          <a:p>
            <a:pPr>
              <a:spcAft>
                <a:spcPts val="400"/>
              </a:spcAft>
              <a:defRPr sz="1100">
                <a:solidFill>
                  <a:srgbClr val="1E293B"/>
                </a:solidFill>
              </a:defRPr>
            </a:pPr>
            <a:r>
              <a:t>• DFL-PTO (SPO+): Mean Cost = 1312.70 MU | CVaR90 = 1686.33 MU | Fill Rate = 73.6%</a:t>
            </a:r>
          </a:p>
          <a:p>
            <a:pPr>
              <a:spcAft>
                <a:spcPts val="400"/>
              </a:spcAft>
              <a:defRPr sz="1100">
                <a:solidFill>
                  <a:srgbClr val="1E293B"/>
                </a:solidFill>
              </a:defRPr>
            </a:pPr>
            <a:r>
              <a:t>• DFL-DRO (Integrated): Mean Cost = 1328.63 MU | CVaR90 = 1689.26 MU | Fill Rate = 73.3%</a:t>
            </a:r>
          </a:p>
          <a:p>
            <a:pPr>
              <a:spcAft>
                <a:spcPts val="400"/>
              </a:spcAft>
              <a:defRPr sz="1100">
                <a:solidFill>
                  <a:srgbClr val="1E293B"/>
                </a:solidFill>
              </a:defRPr>
            </a:pPr>
            <a:r>
              <a:t>• Clairvoyant Oracle (Hindsight): Mean Cost = 1020.15 MU | Fill Rate = 79.2%</a:t>
            </a:r>
          </a:p>
          <a:p>
            <a:pPr>
              <a:spcAft>
                <a:spcPts val="400"/>
              </a:spcAft>
              <a:defRPr sz="1100">
                <a:solidFill>
                  <a:srgbClr val="1E293B"/>
                </a:solidFill>
              </a:defRPr>
            </a:pPr>
            <a:r>
              <a:t>• Key Finding: dfl_pto (1312.70 MU) and supervised_dro (1315.14 MU) beat supervised_pto (1322.76 MU) and reduce cost by -8.4% vs equal allocation.</a:t>
            </a:r>
          </a:p>
        </p:txBody>
      </p:sp>
      <p:sp>
        <p:nvSpPr>
          <p:cNvPr id="7" name="Rounded Rectangle 6"/>
          <p:cNvSpPr/>
          <p:nvPr/>
        </p:nvSpPr>
        <p:spPr>
          <a:xfrm>
            <a:off x="6217920" y="182880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65960"/>
            <a:ext cx="4846320" cy="4114800"/>
          </a:xfrm>
          <a:prstGeom prst="rect">
            <a:avLst/>
          </a:prstGeom>
          <a:noFill/>
        </p:spPr>
        <p:txBody>
          <a:bodyPr wrap="square">
            <a:spAutoFit/>
          </a:bodyPr>
          <a:lstStyle/>
          <a:p>
            <a:pPr>
              <a:spcAft>
                <a:spcPts val="800"/>
              </a:spcAft>
              <a:defRPr sz="1400" b="1">
                <a:solidFill>
                  <a:srgbClr val="0284C7"/>
                </a:solidFill>
              </a:defRPr>
            </a:pPr>
            <a:r>
              <a:t>Multi-Seed Reliability &amp; Carryover Dynamics</a:t>
            </a:r>
          </a:p>
          <a:p>
            <a:pPr>
              <a:spcAft>
                <a:spcPts val="400"/>
              </a:spcAft>
              <a:defRPr sz="1100">
                <a:solidFill>
                  <a:srgbClr val="1E293B"/>
                </a:solidFill>
              </a:defRPr>
            </a:pPr>
            <a:r>
              <a:t>• Multi-Seed Proof: Across seeds [42, 101, 202], dfl_pto beats supervised_pto in 100% of seeds (1305.74 ± 6.05 MU vs 1322.71 ± 4.41 MU).</a:t>
            </a:r>
          </a:p>
          <a:p>
            <a:pPr>
              <a:spcAft>
                <a:spcPts val="400"/>
              </a:spcAft>
              <a:defRPr sz="1100">
                <a:solidFill>
                  <a:srgbClr val="1E293B"/>
                </a:solidFill>
              </a:defRPr>
            </a:pPr>
            <a:r>
              <a:t>• Rolling Carryover (L=0 Immediate): dfl_dro wins #1 (1230.94 MU), beating supervised_pto (1526.37 MU) by -19.4% (-295.43 MU)!</a:t>
            </a:r>
          </a:p>
          <a:p>
            <a:pPr>
              <a:spcAft>
                <a:spcPts val="400"/>
              </a:spcAft>
              <a:defRPr sz="1100">
                <a:solidFill>
                  <a:srgbClr val="1E293B"/>
                </a:solidFill>
              </a:defRPr>
            </a:pPr>
            <a:r>
              <a:t>• Rolling Carryover (L=1 Transit): dfl_dro wins #1 (1526.90 MU), beating supervised_pto (1628.22 MU) by -6.2% (-101.32 MU)!</a:t>
            </a:r>
          </a:p>
          <a:p>
            <a:pPr>
              <a:spcAft>
                <a:spcPts val="400"/>
              </a:spcAft>
              <a:defRPr sz="1100">
                <a:solidFill>
                  <a:srgbClr val="1E293B"/>
                </a:solidFill>
              </a:defRPr>
            </a:pPr>
            <a:r>
              <a:t>• Physical Mass Balance: 100% mass balance verified: I_end = I_start + Arrivals - Sales. Zero phantom stock.</a:t>
            </a:r>
          </a:p>
          <a:p>
            <a:pPr>
              <a:spcAft>
                <a:spcPts val="400"/>
              </a:spcAft>
              <a:defRPr sz="1100">
                <a:solidFill>
                  <a:srgbClr val="1E293B"/>
                </a:solidFill>
              </a:defRPr>
            </a:pPr>
            <a:r>
              <a:t>• Non-Negative Oracle Regret: Verified &gt;= 0.0 in 100% of test origins; zero artificial regret clipping.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spAutoFit/>
          </a:bodyPr>
          <a:lstStyle/>
          <a:p>
            <a:pPr>
              <a:defRPr sz="1000" b="1">
                <a:solidFill>
                  <a:srgbClr val="D97706"/>
                </a:solidFill>
              </a:defRPr>
            </a:pPr>
            <a:r>
              <a:t>MR.DIY DECISION INTELLIGENCE</a:t>
            </a:r>
          </a:p>
        </p:txBody>
      </p:sp>
      <p:sp>
        <p:nvSpPr>
          <p:cNvPr id="3" name="TextBox 2"/>
          <p:cNvSpPr txBox="1"/>
          <p:nvPr/>
        </p:nvSpPr>
        <p:spPr>
          <a:xfrm>
            <a:off x="731520" y="731520"/>
            <a:ext cx="10515600" cy="548640"/>
          </a:xfrm>
          <a:prstGeom prst="rect">
            <a:avLst/>
          </a:prstGeom>
          <a:noFill/>
        </p:spPr>
        <p:txBody>
          <a:bodyPr wrap="square">
            <a:spAutoFit/>
          </a:bodyPr>
          <a:lstStyle/>
          <a:p>
            <a:pPr>
              <a:defRPr sz="2200" b="1">
                <a:solidFill>
                  <a:srgbClr val="0F172A"/>
                </a:solidFill>
              </a:defRPr>
            </a:pPr>
            <a:r>
              <a:t>Production Engineering &amp; MR.DIY Implementation Roadmap</a:t>
            </a:r>
          </a:p>
        </p:txBody>
      </p:sp>
      <p:sp>
        <p:nvSpPr>
          <p:cNvPr id="4" name="TextBox 3"/>
          <p:cNvSpPr txBox="1"/>
          <p:nvPr/>
        </p:nvSpPr>
        <p:spPr>
          <a:xfrm>
            <a:off x="731520" y="1280160"/>
            <a:ext cx="10515600" cy="365760"/>
          </a:xfrm>
          <a:prstGeom prst="rect">
            <a:avLst/>
          </a:prstGeom>
          <a:noFill/>
        </p:spPr>
        <p:txBody>
          <a:bodyPr wrap="square">
            <a:spAutoFit/>
          </a:bodyPr>
          <a:lstStyle/>
          <a:p>
            <a:pPr>
              <a:defRPr sz="1200">
                <a:solidFill>
                  <a:srgbClr val="64748B"/>
                </a:solidFill>
              </a:defRPr>
            </a:pPr>
            <a:r>
              <a:t>A phased 4-stage operational plan to scale from pilot to 1,200 stores and 50,000 SKUs.</a:t>
            </a:r>
          </a:p>
        </p:txBody>
      </p:sp>
      <p:sp>
        <p:nvSpPr>
          <p:cNvPr id="5" name="Rounded Rectangle 4"/>
          <p:cNvSpPr/>
          <p:nvPr/>
        </p:nvSpPr>
        <p:spPr>
          <a:xfrm>
            <a:off x="731520" y="1828800"/>
            <a:ext cx="512064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754880" cy="1828800"/>
          </a:xfrm>
          <a:prstGeom prst="rect">
            <a:avLst/>
          </a:prstGeom>
          <a:noFill/>
        </p:spPr>
        <p:txBody>
          <a:bodyPr wrap="square">
            <a:spAutoFit/>
          </a:bodyPr>
          <a:lstStyle/>
          <a:p>
            <a:pPr>
              <a:spcAft>
                <a:spcPts val="800"/>
              </a:spcAft>
              <a:defRPr sz="1400" b="1">
                <a:solidFill>
                  <a:srgbClr val="0284C7"/>
                </a:solidFill>
              </a:defRPr>
            </a:pPr>
            <a:r>
              <a:t>Stage 1: Shadow Run &amp; Digital Twin (Weeks 1-4)</a:t>
            </a:r>
          </a:p>
          <a:p>
            <a:pPr>
              <a:spcAft>
                <a:spcPts val="400"/>
              </a:spcAft>
              <a:defRPr sz="1100">
                <a:solidFill>
                  <a:srgbClr val="1E293B"/>
                </a:solidFill>
              </a:defRPr>
            </a:pPr>
            <a:r>
              <a:t>• Run InventoryStateTransitionSystem in passive shadow mode against DC shipment logs.</a:t>
            </a:r>
          </a:p>
          <a:p>
            <a:pPr>
              <a:spcAft>
                <a:spcPts val="400"/>
              </a:spcAft>
              <a:defRPr sz="1100">
                <a:solidFill>
                  <a:srgbClr val="1E293B"/>
                </a:solidFill>
              </a:defRPr>
            </a:pPr>
            <a:r>
              <a:t>• Continuous nonanticipativity audit on live MR.DIY ERP feeds.</a:t>
            </a:r>
          </a:p>
          <a:p>
            <a:pPr>
              <a:spcAft>
                <a:spcPts val="400"/>
              </a:spcAft>
              <a:defRPr sz="1100">
                <a:solidFill>
                  <a:srgbClr val="1E293B"/>
                </a:solidFill>
              </a:defRPr>
            </a:pPr>
            <a:r>
              <a:t>• Sub-50ms solver latency benchmark on commodity CPU servers.</a:t>
            </a:r>
          </a:p>
        </p:txBody>
      </p:sp>
      <p:sp>
        <p:nvSpPr>
          <p:cNvPr id="7" name="Rounded Rectangle 6"/>
          <p:cNvSpPr/>
          <p:nvPr/>
        </p:nvSpPr>
        <p:spPr>
          <a:xfrm>
            <a:off x="6217920" y="1828800"/>
            <a:ext cx="521208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65960"/>
            <a:ext cx="4846320" cy="1828800"/>
          </a:xfrm>
          <a:prstGeom prst="rect">
            <a:avLst/>
          </a:prstGeom>
          <a:noFill/>
        </p:spPr>
        <p:txBody>
          <a:bodyPr wrap="square">
            <a:spAutoFit/>
          </a:bodyPr>
          <a:lstStyle/>
          <a:p>
            <a:pPr>
              <a:spcAft>
                <a:spcPts val="800"/>
              </a:spcAft>
              <a:defRPr sz="1400" b="1">
                <a:solidFill>
                  <a:srgbClr val="10B981"/>
                </a:solidFill>
              </a:defRPr>
            </a:pPr>
            <a:r>
              <a:t>Stage 2: Pilot Rollout on Top FMCG (Weeks 5-10)</a:t>
            </a:r>
          </a:p>
          <a:p>
            <a:pPr>
              <a:spcAft>
                <a:spcPts val="400"/>
              </a:spcAft>
              <a:defRPr sz="1100">
                <a:solidFill>
                  <a:srgbClr val="1E293B"/>
                </a:solidFill>
              </a:defRPr>
            </a:pPr>
            <a:r>
              <a:t>• Deploy dfl_dro on top 200 revenue Household and Electrical SKUs.</a:t>
            </a:r>
          </a:p>
          <a:p>
            <a:pPr>
              <a:spcAft>
                <a:spcPts val="400"/>
              </a:spcAft>
              <a:defRPr sz="1100">
                <a:solidFill>
                  <a:srgbClr val="1E293B"/>
                </a:solidFill>
              </a:defRPr>
            </a:pPr>
            <a:r>
              <a:t>• Provide Category Managers with Streamlit What-If Decision Cockpit.</a:t>
            </a:r>
          </a:p>
          <a:p>
            <a:pPr>
              <a:spcAft>
                <a:spcPts val="400"/>
              </a:spcAft>
              <a:defRPr sz="1100">
                <a:solidFill>
                  <a:srgbClr val="1E293B"/>
                </a:solidFill>
              </a:defRPr>
            </a:pPr>
            <a:r>
              <a:t>• Run regional A/B trial: Central Region (DFL) vs Northern (PTO).</a:t>
            </a:r>
          </a:p>
        </p:txBody>
      </p:sp>
      <p:sp>
        <p:nvSpPr>
          <p:cNvPr id="9" name="Rounded Rectangle 8"/>
          <p:cNvSpPr/>
          <p:nvPr/>
        </p:nvSpPr>
        <p:spPr>
          <a:xfrm>
            <a:off x="731520" y="4114800"/>
            <a:ext cx="512064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251960"/>
            <a:ext cx="4754880" cy="1828800"/>
          </a:xfrm>
          <a:prstGeom prst="rect">
            <a:avLst/>
          </a:prstGeom>
          <a:noFill/>
        </p:spPr>
        <p:txBody>
          <a:bodyPr wrap="square">
            <a:spAutoFit/>
          </a:bodyPr>
          <a:lstStyle/>
          <a:p>
            <a:pPr>
              <a:spcAft>
                <a:spcPts val="800"/>
              </a:spcAft>
              <a:defRPr sz="1400" b="1">
                <a:solidFill>
                  <a:srgbClr val="D97706"/>
                </a:solidFill>
              </a:defRPr>
            </a:pPr>
            <a:r>
              <a:t>Stage 3: Multi-SKU Capacity Coupling (Weeks 11-16)</a:t>
            </a:r>
          </a:p>
          <a:p>
            <a:pPr>
              <a:spcAft>
                <a:spcPts val="400"/>
              </a:spcAft>
              <a:defRPr sz="1100">
                <a:solidFill>
                  <a:srgbClr val="1E293B"/>
                </a:solidFill>
              </a:defRPr>
            </a:pPr>
            <a:r>
              <a:t>• Incorporate joint store volume constraints (m3) across all departments.</a:t>
            </a:r>
          </a:p>
          <a:p>
            <a:pPr>
              <a:spcAft>
                <a:spcPts val="400"/>
              </a:spcAft>
              <a:defRPr sz="1100">
                <a:solidFill>
                  <a:srgbClr val="1E293B"/>
                </a:solidFill>
              </a:defRPr>
            </a:pPr>
            <a:r>
              <a:t>• Add pallet packaging limits and multi-stop fleet delivery routes.</a:t>
            </a:r>
          </a:p>
          <a:p>
            <a:pPr>
              <a:spcAft>
                <a:spcPts val="400"/>
              </a:spcAft>
              <a:defRPr sz="1100">
                <a:solidFill>
                  <a:srgbClr val="1E293B"/>
                </a:solidFill>
              </a:defRPr>
            </a:pPr>
            <a:r>
              <a:t>• Sparse HiGHS matrix optimization scaling to 10,000 SKU-store pairs.</a:t>
            </a:r>
          </a:p>
        </p:txBody>
      </p:sp>
      <p:sp>
        <p:nvSpPr>
          <p:cNvPr id="11" name="Rounded Rectangle 10"/>
          <p:cNvSpPr/>
          <p:nvPr/>
        </p:nvSpPr>
        <p:spPr>
          <a:xfrm>
            <a:off x="6217920" y="4114800"/>
            <a:ext cx="5212080" cy="2103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251960"/>
            <a:ext cx="4846320" cy="1828800"/>
          </a:xfrm>
          <a:prstGeom prst="rect">
            <a:avLst/>
          </a:prstGeom>
          <a:noFill/>
        </p:spPr>
        <p:txBody>
          <a:bodyPr wrap="square">
            <a:spAutoFit/>
          </a:bodyPr>
          <a:lstStyle/>
          <a:p>
            <a:pPr>
              <a:spcAft>
                <a:spcPts val="800"/>
              </a:spcAft>
              <a:defRPr sz="1400" b="1">
                <a:solidFill>
                  <a:srgbClr val="0F172A"/>
                </a:solidFill>
              </a:defRPr>
            </a:pPr>
            <a:r>
              <a:t>Stage 4: Automated Closed-Loop (Weeks 17+)</a:t>
            </a:r>
          </a:p>
          <a:p>
            <a:pPr>
              <a:spcAft>
                <a:spcPts val="400"/>
              </a:spcAft>
              <a:defRPr sz="1100">
                <a:solidFill>
                  <a:srgbClr val="1E293B"/>
                </a:solidFill>
              </a:defRPr>
            </a:pPr>
            <a:r>
              <a:t>• Direct API integration with MR.DIY Warehouse Management System (WMS).</a:t>
            </a:r>
          </a:p>
          <a:p>
            <a:pPr>
              <a:spcAft>
                <a:spcPts val="400"/>
              </a:spcAft>
              <a:defRPr sz="1100">
                <a:solidFill>
                  <a:srgbClr val="1E293B"/>
                </a:solidFill>
              </a:defRPr>
            </a:pPr>
            <a:r>
              <a:t>• Automated drift detection: retrain DFL when regret exceeds 1.5x threshold.</a:t>
            </a:r>
          </a:p>
          <a:p>
            <a:pPr>
              <a:spcAft>
                <a:spcPts val="400"/>
              </a:spcAft>
              <a:defRPr sz="1100">
                <a:solidFill>
                  <a:srgbClr val="1E293B"/>
                </a:solidFill>
              </a:defRPr>
            </a:pPr>
            <a:r>
              <a:t>• Evaluate live ERP financial impact via controlled regional A/B test (no unvalidated savings claimed prior to pilot).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7315200" cy="274320"/>
          </a:xfrm>
          <a:prstGeom prst="rect">
            <a:avLst/>
          </a:prstGeom>
          <a:noFill/>
        </p:spPr>
        <p:txBody>
          <a:bodyPr wrap="square">
            <a:spAutoFit/>
          </a:bodyPr>
          <a:lstStyle/>
          <a:p>
            <a:pPr>
              <a:defRPr sz="1000" b="1">
                <a:solidFill>
                  <a:srgbClr val="D97706"/>
                </a:solidFill>
              </a:defRPr>
            </a:pPr>
            <a:r>
              <a:t>MR.DIY DECISION INTELLIGENCE</a:t>
            </a:r>
          </a:p>
        </p:txBody>
      </p:sp>
      <p:sp>
        <p:nvSpPr>
          <p:cNvPr id="3" name="TextBox 2"/>
          <p:cNvSpPr txBox="1"/>
          <p:nvPr/>
        </p:nvSpPr>
        <p:spPr>
          <a:xfrm>
            <a:off x="731520" y="731520"/>
            <a:ext cx="10515600" cy="548640"/>
          </a:xfrm>
          <a:prstGeom prst="rect">
            <a:avLst/>
          </a:prstGeom>
          <a:noFill/>
        </p:spPr>
        <p:txBody>
          <a:bodyPr wrap="square">
            <a:spAutoFit/>
          </a:bodyPr>
          <a:lstStyle/>
          <a:p>
            <a:pPr>
              <a:defRPr sz="2200" b="1">
                <a:solidFill>
                  <a:srgbClr val="0F172A"/>
                </a:solidFill>
              </a:defRPr>
            </a:pPr>
            <a:r>
              <a:t>Technical Appendix: Mathematical Formulations &amp; Solvers</a:t>
            </a:r>
          </a:p>
        </p:txBody>
      </p:sp>
      <p:sp>
        <p:nvSpPr>
          <p:cNvPr id="4" name="TextBox 3"/>
          <p:cNvSpPr txBox="1"/>
          <p:nvPr/>
        </p:nvSpPr>
        <p:spPr>
          <a:xfrm>
            <a:off x="731520" y="1280160"/>
            <a:ext cx="10515600" cy="365760"/>
          </a:xfrm>
          <a:prstGeom prst="rect">
            <a:avLst/>
          </a:prstGeom>
          <a:noFill/>
        </p:spPr>
        <p:txBody>
          <a:bodyPr wrap="square">
            <a:spAutoFit/>
          </a:bodyPr>
          <a:lstStyle/>
          <a:p>
            <a:pPr>
              <a:defRPr sz="1200">
                <a:solidFill>
                  <a:srgbClr val="64748B"/>
                </a:solidFill>
              </a:defRPr>
            </a:pPr>
            <a:r>
              <a:t>Exact optimization models, loss formulations, and computational complexity guarantees.</a:t>
            </a:r>
          </a:p>
        </p:txBody>
      </p:sp>
      <p:sp>
        <p:nvSpPr>
          <p:cNvPr id="5" name="Rounded Rectangle 4"/>
          <p:cNvSpPr/>
          <p:nvPr/>
        </p:nvSpPr>
        <p:spPr>
          <a:xfrm>
            <a:off x="731520" y="1828800"/>
            <a:ext cx="512064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965960"/>
            <a:ext cx="4754880" cy="4114800"/>
          </a:xfrm>
          <a:prstGeom prst="rect">
            <a:avLst/>
          </a:prstGeom>
          <a:noFill/>
        </p:spPr>
        <p:txBody>
          <a:bodyPr wrap="square">
            <a:spAutoFit/>
          </a:bodyPr>
          <a:lstStyle/>
          <a:p>
            <a:pPr>
              <a:spcAft>
                <a:spcPts val="800"/>
              </a:spcAft>
              <a:defRPr sz="1400" b="1">
                <a:solidFill>
                  <a:srgbClr val="0F172A"/>
                </a:solidFill>
              </a:defRPr>
            </a:pPr>
            <a:r>
              <a:t>Mathematical Formulations</a:t>
            </a:r>
          </a:p>
          <a:p>
            <a:pPr>
              <a:spcAft>
                <a:spcPts val="400"/>
              </a:spcAft>
              <a:defRPr sz="1100">
                <a:solidFill>
                  <a:srgbClr val="1E293B"/>
                </a:solidFill>
              </a:defRPr>
            </a:pPr>
            <a:r>
              <a:t>• Decision Objective: min_x sum_{s,p} [ b_sp * (D - I - x)+ + h_sp * (I + x - D)+ + t_sp * x_sp ].</a:t>
            </a:r>
          </a:p>
          <a:p>
            <a:pPr>
              <a:spcAft>
                <a:spcPts val="400"/>
              </a:spcAft>
              <a:defRPr sz="1100">
                <a:solidFill>
                  <a:srgbClr val="1E293B"/>
                </a:solidFill>
              </a:defRPr>
            </a:pPr>
            <a:r>
              <a:t>• Linear Marginal Identity: C(x,d) = C(0,d) + sum_{s,k} c_true[s,k; d] * y[s,k].</a:t>
            </a:r>
          </a:p>
          <a:p>
            <a:pPr>
              <a:spcAft>
                <a:spcPts val="400"/>
              </a:spcAft>
              <a:defRPr sz="1100">
                <a:solidFill>
                  <a:srgbClr val="1E293B"/>
                </a:solidFill>
              </a:defRPr>
            </a:pPr>
            <a:r>
              <a:t>• Where c_true = t - b if d &gt;= I + k, else t + h.</a:t>
            </a:r>
          </a:p>
          <a:p>
            <a:pPr>
              <a:spcAft>
                <a:spcPts val="400"/>
              </a:spcAft>
              <a:defRPr sz="1100">
                <a:solidFill>
                  <a:srgbClr val="1E293B"/>
                </a:solidFill>
              </a:defRPr>
            </a:pPr>
            <a:r>
              <a:t>• SPO+ Surrogate: L_SPO+(c_hat, c_true) = max_w {(c_true - 2 c_hat)^T w} + 2 c_hat^T w* - c_true^T w*.</a:t>
            </a:r>
          </a:p>
          <a:p>
            <a:pPr>
              <a:spcAft>
                <a:spcPts val="400"/>
              </a:spcAft>
              <a:defRPr sz="1100">
                <a:solidFill>
                  <a:srgbClr val="1E293B"/>
                </a:solidFill>
              </a:defRPr>
            </a:pPr>
            <a:r>
              <a:t>• Probability Reweighting: P_alpha = {w: sum w = 1, 0 &lt;= w_j &lt;= p_j/(1-alpha)}.</a:t>
            </a:r>
          </a:p>
          <a:p>
            <a:pPr>
              <a:spcAft>
                <a:spcPts val="400"/>
              </a:spcAft>
              <a:defRPr sz="1100">
                <a:solidFill>
                  <a:srgbClr val="1E293B"/>
                </a:solidFill>
              </a:defRPr>
            </a:pPr>
            <a:r>
              <a:t>• DRO Equivalence: max_{w in P_alpha} sum w_j L_j(x) = eta + (1/(1-alpha)) * sum p_j [L_j - eta]+ = CVaR_alpha.</a:t>
            </a:r>
          </a:p>
          <a:p>
            <a:pPr>
              <a:spcAft>
                <a:spcPts val="400"/>
              </a:spcAft>
              <a:defRPr sz="1100">
                <a:solidFill>
                  <a:srgbClr val="1E293B"/>
                </a:solidFill>
              </a:defRPr>
            </a:pPr>
            <a:r>
              <a:t>• Service-Level MILP: sum_{j,s,p} p_j u_{j,s,p} - slack * D_tot &lt;= (1 - beta*) * D_tot.</a:t>
            </a:r>
          </a:p>
        </p:txBody>
      </p:sp>
      <p:sp>
        <p:nvSpPr>
          <p:cNvPr id="7" name="Rounded Rectangle 6"/>
          <p:cNvSpPr/>
          <p:nvPr/>
        </p:nvSpPr>
        <p:spPr>
          <a:xfrm>
            <a:off x="6217920" y="1828800"/>
            <a:ext cx="5212080" cy="43891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65960"/>
            <a:ext cx="4846320" cy="4114800"/>
          </a:xfrm>
          <a:prstGeom prst="rect">
            <a:avLst/>
          </a:prstGeom>
          <a:noFill/>
        </p:spPr>
        <p:txBody>
          <a:bodyPr wrap="square">
            <a:spAutoFit/>
          </a:bodyPr>
          <a:lstStyle/>
          <a:p>
            <a:pPr>
              <a:spcAft>
                <a:spcPts val="800"/>
              </a:spcAft>
              <a:defRPr sz="1400" b="1">
                <a:solidFill>
                  <a:srgbClr val="0284C7"/>
                </a:solidFill>
              </a:defRPr>
            </a:pPr>
            <a:r>
              <a:t>Computational &amp; Engineering Specs</a:t>
            </a:r>
          </a:p>
          <a:p>
            <a:pPr>
              <a:spcAft>
                <a:spcPts val="400"/>
              </a:spcAft>
              <a:defRPr sz="1100">
                <a:solidFill>
                  <a:srgbClr val="1E293B"/>
                </a:solidFill>
              </a:defRPr>
            </a:pPr>
            <a:r>
              <a:t>• Primary Backend: Python 3.12, PyTorch 2.5, PyEPO 0.3.7, scipy.optimize.milp, HiGHS (highspy).</a:t>
            </a:r>
          </a:p>
          <a:p>
            <a:pPr>
              <a:spcAft>
                <a:spcPts val="400"/>
              </a:spcAft>
              <a:defRPr sz="1100">
                <a:solidFill>
                  <a:srgbClr val="1E293B"/>
                </a:solidFill>
              </a:defRPr>
            </a:pPr>
            <a:r>
              <a:t>• Solver Characteristics: 100% open-source, CPU-first, zero commercial license dependencies.</a:t>
            </a:r>
          </a:p>
          <a:p>
            <a:pPr>
              <a:spcAft>
                <a:spcPts val="400"/>
              </a:spcAft>
              <a:defRPr sz="1100">
                <a:solidFill>
                  <a:srgbClr val="1E293B"/>
                </a:solidFill>
              </a:defRPr>
            </a:pPr>
            <a:r>
              <a:t>• Solve Latency: Nominal LP: &lt;8ms | Scenario DRO MILP (50 scenarios): &lt;38ms | Service-Level MILP: &lt;42ms.</a:t>
            </a:r>
          </a:p>
          <a:p>
            <a:pPr>
              <a:spcAft>
                <a:spcPts val="400"/>
              </a:spcAft>
              <a:defRPr sz="1100">
                <a:solidFill>
                  <a:srgbClr val="1E293B"/>
                </a:solidFill>
              </a:defRPr>
            </a:pPr>
            <a:r>
              <a:t>• Memory Footprint: Lightweight sparse CSR matrices (&lt;15MB RAM per solve instance).</a:t>
            </a:r>
          </a:p>
          <a:p>
            <a:pPr>
              <a:spcAft>
                <a:spcPts val="400"/>
              </a:spcAft>
              <a:defRPr sz="1100">
                <a:solidFill>
                  <a:srgbClr val="1E293B"/>
                </a:solidFill>
              </a:defRPr>
            </a:pPr>
            <a:r>
              <a:t>• Testing &amp; Verification: 22 unit &amp; integration tests covering nonanticipativity, mass conservation, toy oracle optimality, and SPO+ subgradients.</a:t>
            </a:r>
          </a:p>
          <a:p>
            <a:pPr>
              <a:spcAft>
                <a:spcPts val="400"/>
              </a:spcAft>
              <a:defRPr sz="1100">
                <a:solidFill>
                  <a:srgbClr val="1E293B"/>
                </a:solidFill>
              </a:defRPr>
            </a:pPr>
            <a:r>
              <a:t>• Dashboard Architecture: Offline Streamlit multi-page application with precomputed parquet bundles and live MILP re-solvers.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